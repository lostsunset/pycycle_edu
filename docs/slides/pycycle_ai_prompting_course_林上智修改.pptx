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83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85800" y="502920"/>
            <a:ext cx="804672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dirty="0">
                <a:solidFill>
                  <a:srgbClr val="4A3026"/>
                </a:solidFill>
                <a:latin typeface="Microsoft JhengHei"/>
              </a:rPr>
              <a:t>用 AI </a:t>
            </a:r>
            <a:r>
              <a:rPr sz="3200" b="1" dirty="0" err="1">
                <a:solidFill>
                  <a:srgbClr val="4A3026"/>
                </a:solidFill>
                <a:latin typeface="Microsoft JhengHei"/>
              </a:rPr>
              <a:t>提示詞、uv、</a:t>
            </a:r>
            <a:r>
              <a:rPr sz="3200" b="1" dirty="0" err="1">
                <a:solidFill>
                  <a:schemeClr val="accent6">
                    <a:lumMod val="75000"/>
                  </a:schemeClr>
                </a:solidFill>
                <a:latin typeface="Microsoft JhengHei"/>
              </a:rPr>
              <a:t>pyCycle</a:t>
            </a:r>
            <a:r>
              <a:rPr sz="3200" b="1" dirty="0">
                <a:solidFill>
                  <a:srgbClr val="4A3026"/>
                </a:solidFill>
                <a:latin typeface="Microsoft JhengHei"/>
              </a:rPr>
              <a:t> 與 PySide6 </a:t>
            </a:r>
            <a:r>
              <a:rPr sz="3200" b="1" dirty="0" err="1">
                <a:solidFill>
                  <a:srgbClr val="4A3026"/>
                </a:solidFill>
                <a:latin typeface="Microsoft JhengHei"/>
              </a:rPr>
              <a:t>建立渦扇引擎教學</a:t>
            </a:r>
            <a:r>
              <a:rPr sz="3200" b="1" dirty="0">
                <a:solidFill>
                  <a:srgbClr val="4A3026"/>
                </a:solidFill>
                <a:latin typeface="Microsoft JhengHei"/>
              </a:rPr>
              <a:t> UI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1627632"/>
            <a:ext cx="8046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dirty="0">
                <a:solidFill>
                  <a:srgbClr val="706254"/>
                </a:solidFill>
                <a:latin typeface="Microsoft JhengHei"/>
              </a:rPr>
              <a:t>以 CFM56-7B </a:t>
            </a:r>
            <a:r>
              <a:rPr sz="1700" b="0" dirty="0" err="1">
                <a:solidFill>
                  <a:srgbClr val="706254"/>
                </a:solidFill>
                <a:latin typeface="Microsoft JhengHei"/>
              </a:rPr>
              <a:t>等級高旁通比渦扇為案例，從資料治理、模型驗證到中英文報告產出</a:t>
            </a:r>
            <a:endParaRPr sz="1700" b="0" dirty="0">
              <a:solidFill>
                <a:srgbClr val="706254"/>
              </a:solidFill>
              <a:latin typeface="Microsoft JhengHei"/>
            </a:endParaRPr>
          </a:p>
        </p:txBody>
      </p:sp>
      <p:pic>
        <p:nvPicPr>
          <p:cNvPr id="4" name="Picture 3" descr="turbofan_cut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5687" y="2423160"/>
            <a:ext cx="6746240" cy="379476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8549640" y="777240"/>
            <a:ext cx="2834640" cy="4937760"/>
          </a:xfrm>
          <a:prstGeom prst="roundRect">
            <a:avLst/>
          </a:prstGeom>
          <a:solidFill>
            <a:srgbClr val="FFF9EF"/>
          </a:solidFill>
          <a:ln>
            <a:solidFill>
              <a:srgbClr val="B85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714232" y="886968"/>
            <a:ext cx="25054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85D36"/>
                </a:solidFill>
                <a:latin typeface="Microsoft JhengHei"/>
              </a:rPr>
              <a:t>本課核心任務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14232" y="1280160"/>
            <a:ext cx="2551176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 dirty="0">
                <a:solidFill>
                  <a:srgbClr val="302720"/>
                </a:solidFill>
                <a:latin typeface="Microsoft JhengHei"/>
              </a:rPr>
              <a:t>1. </a:t>
            </a:r>
            <a:r>
              <a:rPr b="0" dirty="0" err="1">
                <a:solidFill>
                  <a:srgbClr val="302720"/>
                </a:solidFill>
                <a:latin typeface="Microsoft JhengHei"/>
              </a:rPr>
              <a:t>用清楚提示詞指揮</a:t>
            </a:r>
            <a:r>
              <a:rPr b="0" dirty="0">
                <a:solidFill>
                  <a:srgbClr val="302720"/>
                </a:solidFill>
                <a:latin typeface="Microsoft JhengHei"/>
              </a:rPr>
              <a:t> AI</a:t>
            </a:r>
            <a:br>
              <a:rPr sz="2800" dirty="0"/>
            </a:br>
            <a:r>
              <a:rPr b="0" dirty="0">
                <a:solidFill>
                  <a:srgbClr val="302720"/>
                </a:solidFill>
                <a:latin typeface="Microsoft JhengHei"/>
              </a:rPr>
              <a:t>2. 用 </a:t>
            </a:r>
            <a:r>
              <a:rPr b="0" dirty="0" err="1">
                <a:solidFill>
                  <a:srgbClr val="302720"/>
                </a:solidFill>
                <a:latin typeface="Microsoft JhengHei"/>
              </a:rPr>
              <a:t>uv</a:t>
            </a:r>
            <a:r>
              <a:rPr b="0" dirty="0">
                <a:solidFill>
                  <a:srgbClr val="302720"/>
                </a:solidFill>
                <a:latin typeface="Microsoft JhengHei"/>
              </a:rPr>
              <a:t> </a:t>
            </a:r>
            <a:r>
              <a:rPr b="0" dirty="0" err="1">
                <a:solidFill>
                  <a:srgbClr val="302720"/>
                </a:solidFill>
                <a:latin typeface="Microsoft JhengHei"/>
              </a:rPr>
              <a:t>管理</a:t>
            </a:r>
            <a:r>
              <a:rPr b="0" dirty="0">
                <a:solidFill>
                  <a:srgbClr val="302720"/>
                </a:solidFill>
                <a:latin typeface="Microsoft JhengHei"/>
              </a:rPr>
              <a:t> .</a:t>
            </a:r>
            <a:r>
              <a:rPr b="0" dirty="0" err="1">
                <a:solidFill>
                  <a:srgbClr val="302720"/>
                </a:solidFill>
                <a:latin typeface="Microsoft JhengHei"/>
              </a:rPr>
              <a:t>venv</a:t>
            </a:r>
            <a:br>
              <a:rPr sz="2800" dirty="0"/>
            </a:br>
            <a:r>
              <a:rPr b="0" dirty="0">
                <a:solidFill>
                  <a:srgbClr val="302720"/>
                </a:solidFill>
                <a:latin typeface="Microsoft JhengHei"/>
              </a:rPr>
              <a:t>3. </a:t>
            </a:r>
            <a:r>
              <a:rPr b="0" dirty="0" err="1">
                <a:solidFill>
                  <a:srgbClr val="302720"/>
                </a:solidFill>
                <a:latin typeface="Microsoft JhengHei"/>
              </a:rPr>
              <a:t>不修改</a:t>
            </a:r>
            <a:r>
              <a:rPr b="0" dirty="0">
                <a:solidFill>
                  <a:srgbClr val="302720"/>
                </a:solidFill>
                <a:latin typeface="Microsoft JhengHei"/>
              </a:rPr>
              <a:t> upstream/</a:t>
            </a:r>
            <a:r>
              <a:rPr b="0" dirty="0" err="1">
                <a:solidFill>
                  <a:srgbClr val="302720"/>
                </a:solidFill>
                <a:latin typeface="Microsoft JhengHei"/>
              </a:rPr>
              <a:t>pyCycle</a:t>
            </a:r>
            <a:br>
              <a:rPr sz="2800" dirty="0"/>
            </a:br>
            <a:r>
              <a:rPr b="0" dirty="0">
                <a:solidFill>
                  <a:srgbClr val="302720"/>
                </a:solidFill>
                <a:latin typeface="Microsoft JhengHei"/>
              </a:rPr>
              <a:t>4. </a:t>
            </a:r>
            <a:r>
              <a:rPr b="0" dirty="0" err="1">
                <a:solidFill>
                  <a:srgbClr val="302720"/>
                </a:solidFill>
                <a:latin typeface="Microsoft JhengHei"/>
              </a:rPr>
              <a:t>建立</a:t>
            </a:r>
            <a:r>
              <a:rPr b="0" dirty="0">
                <a:solidFill>
                  <a:srgbClr val="302720"/>
                </a:solidFill>
                <a:latin typeface="Microsoft JhengHei"/>
              </a:rPr>
              <a:t> PySide6 UI</a:t>
            </a:r>
            <a:br>
              <a:rPr sz="2800" dirty="0"/>
            </a:br>
            <a:r>
              <a:rPr b="0" dirty="0">
                <a:solidFill>
                  <a:srgbClr val="302720"/>
                </a:solidFill>
                <a:latin typeface="Microsoft JhengHei"/>
              </a:rPr>
              <a:t>5. </a:t>
            </a:r>
            <a:r>
              <a:rPr b="0" dirty="0" err="1">
                <a:solidFill>
                  <a:srgbClr val="302720"/>
                </a:solidFill>
                <a:latin typeface="Microsoft JhengHei"/>
              </a:rPr>
              <a:t>產出正體中文與英文工程報告</a:t>
            </a:r>
            <a:endParaRPr b="0" dirty="0">
              <a:solidFill>
                <a:srgbClr val="302720"/>
              </a:solidFill>
              <a:latin typeface="Microsoft JhengHei"/>
            </a:endParaRPr>
          </a:p>
        </p:txBody>
      </p:sp>
      <p:sp>
        <p:nvSpPr>
          <p:cNvPr id="8" name="Oval 7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課程地圖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六個階段，每階段都有可複製提示詞與驗證產出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02920" cy="502920"/>
          </a:xfrm>
          <a:prstGeom prst="roundRect">
            <a:avLst/>
          </a:prstGeom>
          <a:solidFill>
            <a:srgbClr val="43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502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389888"/>
            <a:ext cx="292608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554480" y="15270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36697"/>
                </a:solidFill>
                <a:latin typeface="Microsoft JhengHei"/>
              </a:rPr>
              <a:t>提示詞與規則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2011680"/>
            <a:ext cx="2514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讀 AGENTS.md、建立 AI 工作邊界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26280" y="1463040"/>
            <a:ext cx="502920" cy="502920"/>
          </a:xfrm>
          <a:prstGeom prst="roundRect">
            <a:avLst/>
          </a:prstGeom>
          <a:solidFill>
            <a:srgbClr val="28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26280" y="1508760"/>
            <a:ext cx="502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60" y="1389888"/>
            <a:ext cx="292608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49240" y="15270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7E74"/>
                </a:solidFill>
                <a:latin typeface="Microsoft JhengHei"/>
              </a:rPr>
              <a:t>uv 環境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94960" y="2011680"/>
            <a:ext cx="2514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建立 .venv、安裝 pyCycle / PySide6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1463040"/>
            <a:ext cx="502920" cy="502920"/>
          </a:xfrm>
          <a:prstGeom prst="round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321040" y="1508760"/>
            <a:ext cx="502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61120" y="1389888"/>
            <a:ext cx="292608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0" y="15270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D36"/>
                </a:solidFill>
                <a:latin typeface="Microsoft JhengHei"/>
              </a:rPr>
              <a:t>參考資料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20" y="2011680"/>
            <a:ext cx="2514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CFM56-7B 來源存入 Reference_sources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520440"/>
            <a:ext cx="502920" cy="502920"/>
          </a:xfrm>
          <a:prstGeom prst="roundRect">
            <a:avLst/>
          </a:prstGeom>
          <a:solidFill>
            <a:srgbClr val="79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31520" y="3566160"/>
            <a:ext cx="502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371600" y="3447288"/>
            <a:ext cx="292608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554480" y="35844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795C91"/>
                </a:solidFill>
                <a:latin typeface="Microsoft JhengHei"/>
              </a:rPr>
              <a:t>pyCycle 驗證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0200" y="4069080"/>
            <a:ext cx="2514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跑 high_bypass_turbofan 範例並讀輸出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6280" y="3520440"/>
            <a:ext cx="502920" cy="502920"/>
          </a:xfrm>
          <a:prstGeom prst="roundRect">
            <a:avLst/>
          </a:prstGeom>
          <a:solidFill>
            <a:srgbClr val="5B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4526280" y="3566160"/>
            <a:ext cx="502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166360" y="3447288"/>
            <a:ext cx="292608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49240" y="35844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8A5B"/>
                </a:solidFill>
                <a:latin typeface="Microsoft JhengHei"/>
              </a:rPr>
              <a:t>PySide6 UI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4069080"/>
            <a:ext cx="2514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建立輸入面板、結果表、報告按鈕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3520440"/>
            <a:ext cx="502920" cy="502920"/>
          </a:xfrm>
          <a:prstGeom prst="roundRect">
            <a:avLst/>
          </a:prstGeom>
          <a:solidFill>
            <a:srgbClr val="A65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321040" y="3566160"/>
            <a:ext cx="50292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JhengHei"/>
              </a:rPr>
              <a:t>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3447288"/>
            <a:ext cx="292608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144000" y="35844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65246"/>
                </a:solidFill>
                <a:latin typeface="Microsoft JhengHei"/>
              </a:rPr>
              <a:t>報告與延伸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20" y="4069080"/>
            <a:ext cx="251460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正體中文/英文報告、參數掃描、GasTurb 對照</a:t>
            </a:r>
          </a:p>
        </p:txBody>
      </p:sp>
      <p:sp>
        <p:nvSpPr>
          <p:cNvPr id="35" name="Oval 34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AI 提示詞設計原則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先規則、再目標、再限制、再驗證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49240" cy="45262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287E74"/>
                </a:solidFill>
                <a:latin typeface="Microsoft JhengHei"/>
              </a:rPr>
              <a:t>好提示詞包含</a:t>
            </a:r>
            <a:endParaRPr sz="1800" b="1" dirty="0">
              <a:solidFill>
                <a:srgbClr val="287E74"/>
              </a:solidFill>
              <a:latin typeface="Microsoft JhengHei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93775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352D26"/>
                </a:solidFill>
                <a:latin typeface="Microsoft JhengHei"/>
              </a:rPr>
              <a:t>• </a:t>
            </a:r>
            <a:r>
              <a:rPr sz="2000" b="0" dirty="0" err="1">
                <a:solidFill>
                  <a:srgbClr val="352D26"/>
                </a:solidFill>
                <a:latin typeface="Microsoft JhengHei"/>
              </a:rPr>
              <a:t>角色：你是嚴謹的教學助教</a:t>
            </a:r>
            <a:br>
              <a:rPr sz="2800" dirty="0"/>
            </a:br>
            <a:r>
              <a:rPr sz="2000" b="0" dirty="0">
                <a:solidFill>
                  <a:srgbClr val="352D26"/>
                </a:solidFill>
                <a:latin typeface="Microsoft JhengHei"/>
              </a:rPr>
              <a:t>• </a:t>
            </a:r>
            <a:r>
              <a:rPr sz="2000" b="0" dirty="0" err="1">
                <a:solidFill>
                  <a:srgbClr val="352D26"/>
                </a:solidFill>
                <a:latin typeface="Microsoft JhengHei"/>
              </a:rPr>
              <a:t>工作目標：建立</a:t>
            </a:r>
            <a:r>
              <a:rPr sz="2000" b="0" dirty="0">
                <a:solidFill>
                  <a:srgbClr val="352D26"/>
                </a:solidFill>
                <a:latin typeface="Microsoft JhengHei"/>
              </a:rPr>
              <a:t> </a:t>
            </a:r>
            <a:r>
              <a:rPr sz="2000" b="0" dirty="0" err="1">
                <a:solidFill>
                  <a:srgbClr val="352D26"/>
                </a:solidFill>
                <a:latin typeface="Microsoft JhengHei"/>
              </a:rPr>
              <a:t>uv</a:t>
            </a:r>
            <a:r>
              <a:rPr sz="2000" b="0" dirty="0">
                <a:solidFill>
                  <a:srgbClr val="352D26"/>
                </a:solidFill>
                <a:latin typeface="Microsoft JhengHei"/>
              </a:rPr>
              <a:t> + </a:t>
            </a:r>
            <a:r>
              <a:rPr sz="2000" b="0" dirty="0" err="1">
                <a:solidFill>
                  <a:srgbClr val="352D26"/>
                </a:solidFill>
                <a:latin typeface="Microsoft JhengHei"/>
              </a:rPr>
              <a:t>pyCycle</a:t>
            </a:r>
            <a:r>
              <a:rPr sz="2000" b="0" dirty="0">
                <a:solidFill>
                  <a:srgbClr val="352D26"/>
                </a:solidFill>
                <a:latin typeface="Microsoft JhengHei"/>
              </a:rPr>
              <a:t> + UI</a:t>
            </a:r>
            <a:br>
              <a:rPr sz="2800" dirty="0"/>
            </a:br>
            <a:r>
              <a:rPr sz="2000" b="0" dirty="0">
                <a:solidFill>
                  <a:srgbClr val="352D26"/>
                </a:solidFill>
                <a:latin typeface="Microsoft JhengHei"/>
              </a:rPr>
              <a:t>• </a:t>
            </a:r>
            <a:r>
              <a:rPr sz="2000" b="0" dirty="0" err="1">
                <a:solidFill>
                  <a:srgbClr val="352D26"/>
                </a:solidFill>
                <a:latin typeface="Microsoft JhengHei"/>
              </a:rPr>
              <a:t>限制：不得修改</a:t>
            </a:r>
            <a:r>
              <a:rPr sz="2000" b="0" dirty="0">
                <a:solidFill>
                  <a:srgbClr val="352D26"/>
                </a:solidFill>
                <a:latin typeface="Microsoft JhengHei"/>
              </a:rPr>
              <a:t> upstream/</a:t>
            </a:r>
            <a:r>
              <a:rPr sz="2000" b="0" dirty="0" err="1">
                <a:solidFill>
                  <a:srgbClr val="352D26"/>
                </a:solidFill>
                <a:latin typeface="Microsoft JhengHei"/>
              </a:rPr>
              <a:t>pyCycle</a:t>
            </a:r>
            <a:br>
              <a:rPr sz="2800" dirty="0"/>
            </a:br>
            <a:r>
              <a:rPr sz="2000" b="0" dirty="0">
                <a:solidFill>
                  <a:srgbClr val="352D26"/>
                </a:solidFill>
                <a:latin typeface="Microsoft JhengHei"/>
              </a:rPr>
              <a:t>• </a:t>
            </a:r>
            <a:r>
              <a:rPr sz="2000" b="0" dirty="0" err="1">
                <a:solidFill>
                  <a:srgbClr val="352D26"/>
                </a:solidFill>
                <a:latin typeface="Microsoft JhengHei"/>
              </a:rPr>
              <a:t>輸出格式：步驟、命令、驗證結果</a:t>
            </a:r>
            <a:br>
              <a:rPr sz="2800" dirty="0"/>
            </a:br>
            <a:r>
              <a:rPr sz="2000" b="0" dirty="0">
                <a:solidFill>
                  <a:srgbClr val="352D26"/>
                </a:solidFill>
                <a:latin typeface="Microsoft JhengHei"/>
              </a:rPr>
              <a:t>• </a:t>
            </a:r>
            <a:r>
              <a:rPr sz="2000" b="0" dirty="0" err="1">
                <a:solidFill>
                  <a:srgbClr val="352D26"/>
                </a:solidFill>
                <a:latin typeface="Microsoft JhengHei"/>
              </a:rPr>
              <a:t>資料規則：先存</a:t>
            </a:r>
            <a:r>
              <a:rPr sz="2000" b="0" dirty="0">
                <a:solidFill>
                  <a:srgbClr val="352D26"/>
                </a:solidFill>
                <a:latin typeface="Microsoft JhengHei"/>
              </a:rPr>
              <a:t> </a:t>
            </a:r>
            <a:r>
              <a:rPr sz="2000" b="0" dirty="0" err="1">
                <a:solidFill>
                  <a:srgbClr val="352D26"/>
                </a:solidFill>
                <a:latin typeface="Microsoft JhengHei"/>
              </a:rPr>
              <a:t>Reference_sources</a:t>
            </a:r>
            <a:endParaRPr sz="2000" b="0" dirty="0">
              <a:solidFill>
                <a:srgbClr val="352D26"/>
              </a:solidFill>
              <a:latin typeface="Microsoft JhengHei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A65246"/>
                </a:solidFill>
                <a:latin typeface="Microsoft JhengHei"/>
              </a:rPr>
              <a:t>避免這些寫法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39112"/>
            <a:ext cx="4937759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dirty="0">
                <a:solidFill>
                  <a:srgbClr val="352D26"/>
                </a:solidFill>
                <a:latin typeface="Microsoft JhengHei"/>
              </a:rPr>
              <a:t>• </a:t>
            </a:r>
            <a:r>
              <a:rPr sz="2000" b="0" dirty="0" err="1">
                <a:solidFill>
                  <a:srgbClr val="352D26"/>
                </a:solidFill>
                <a:latin typeface="Microsoft JhengHei"/>
              </a:rPr>
              <a:t>只說「幫我做</a:t>
            </a:r>
            <a:r>
              <a:rPr sz="2000" b="0" dirty="0">
                <a:solidFill>
                  <a:srgbClr val="352D26"/>
                </a:solidFill>
                <a:latin typeface="Microsoft JhengHei"/>
              </a:rPr>
              <a:t> UI」</a:t>
            </a:r>
            <a:br>
              <a:rPr sz="2800" dirty="0"/>
            </a:br>
            <a:r>
              <a:rPr sz="2000" b="0" dirty="0">
                <a:solidFill>
                  <a:srgbClr val="352D26"/>
                </a:solidFill>
                <a:latin typeface="Microsoft JhengHei"/>
              </a:rPr>
              <a:t>• </a:t>
            </a:r>
            <a:r>
              <a:rPr sz="2000" b="0" dirty="0" err="1">
                <a:solidFill>
                  <a:srgbClr val="352D26"/>
                </a:solidFill>
                <a:latin typeface="Microsoft JhengHei"/>
              </a:rPr>
              <a:t>沒有指定資料來源與引用方式</a:t>
            </a:r>
            <a:br>
              <a:rPr sz="2800" dirty="0"/>
            </a:br>
            <a:r>
              <a:rPr sz="2000" b="0" dirty="0">
                <a:solidFill>
                  <a:srgbClr val="352D26"/>
                </a:solidFill>
                <a:latin typeface="Microsoft JhengHei"/>
              </a:rPr>
              <a:t>• </a:t>
            </a:r>
            <a:r>
              <a:rPr sz="2000" b="0" dirty="0" err="1">
                <a:solidFill>
                  <a:srgbClr val="352D26"/>
                </a:solidFill>
                <a:latin typeface="Microsoft JhengHei"/>
              </a:rPr>
              <a:t>沒有要求</a:t>
            </a:r>
            <a:r>
              <a:rPr sz="2000" b="0" dirty="0">
                <a:solidFill>
                  <a:srgbClr val="352D26"/>
                </a:solidFill>
                <a:latin typeface="Microsoft JhengHei"/>
              </a:rPr>
              <a:t> AI </a:t>
            </a:r>
            <a:r>
              <a:rPr sz="2000" b="0" dirty="0" err="1">
                <a:solidFill>
                  <a:srgbClr val="352D26"/>
                </a:solidFill>
                <a:latin typeface="Microsoft JhengHei"/>
              </a:rPr>
              <a:t>先讀</a:t>
            </a:r>
            <a:r>
              <a:rPr sz="2000" b="0" dirty="0">
                <a:solidFill>
                  <a:srgbClr val="352D26"/>
                </a:solidFill>
                <a:latin typeface="Microsoft JhengHei"/>
              </a:rPr>
              <a:t> repo </a:t>
            </a:r>
            <a:r>
              <a:rPr sz="2000" b="0" dirty="0" err="1">
                <a:solidFill>
                  <a:srgbClr val="352D26"/>
                </a:solidFill>
                <a:latin typeface="Microsoft JhengHei"/>
              </a:rPr>
              <a:t>規則</a:t>
            </a:r>
            <a:br>
              <a:rPr sz="2800" dirty="0"/>
            </a:br>
            <a:r>
              <a:rPr sz="2000" b="0" dirty="0">
                <a:solidFill>
                  <a:srgbClr val="352D26"/>
                </a:solidFill>
                <a:latin typeface="Microsoft JhengHei"/>
              </a:rPr>
              <a:t>• </a:t>
            </a:r>
            <a:r>
              <a:rPr sz="2000" b="0" dirty="0" err="1">
                <a:solidFill>
                  <a:srgbClr val="352D26"/>
                </a:solidFill>
                <a:latin typeface="Microsoft JhengHei"/>
              </a:rPr>
              <a:t>沒有要求驗證命令</a:t>
            </a:r>
            <a:br>
              <a:rPr sz="2800" dirty="0"/>
            </a:br>
            <a:r>
              <a:rPr sz="2000" b="0" dirty="0">
                <a:solidFill>
                  <a:srgbClr val="352D26"/>
                </a:solidFill>
                <a:latin typeface="Microsoft JhengHei"/>
              </a:rPr>
              <a:t>• </a:t>
            </a:r>
            <a:r>
              <a:rPr sz="2000" b="0" dirty="0" err="1">
                <a:solidFill>
                  <a:srgbClr val="352D26"/>
                </a:solidFill>
                <a:latin typeface="Microsoft JhengHei"/>
              </a:rPr>
              <a:t>把真實引擎數值直接硬塞模型</a:t>
            </a:r>
            <a:endParaRPr sz="2000" b="0" dirty="0">
              <a:solidFill>
                <a:srgbClr val="352D26"/>
              </a:solidFill>
              <a:latin typeface="Microsoft JhengHei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dirty="0" err="1">
                <a:solidFill>
                  <a:srgbClr val="706254"/>
                </a:solidFill>
                <a:latin typeface="Microsoft JhengHei"/>
              </a:rPr>
              <a:t>pyCycle</a:t>
            </a:r>
            <a:r>
              <a:rPr sz="1000" b="0" dirty="0">
                <a:solidFill>
                  <a:srgbClr val="706254"/>
                </a:solidFill>
                <a:latin typeface="Microsoft JhengHei"/>
              </a:rPr>
              <a:t> + AI Prompting + </a:t>
            </a:r>
            <a:r>
              <a:rPr sz="1000" b="0" dirty="0" err="1">
                <a:solidFill>
                  <a:srgbClr val="706254"/>
                </a:solidFill>
                <a:latin typeface="Microsoft JhengHei"/>
              </a:rPr>
              <a:t>uv</a:t>
            </a:r>
            <a:r>
              <a:rPr sz="1000" b="0" dirty="0">
                <a:solidFill>
                  <a:srgbClr val="706254"/>
                </a:solidFill>
                <a:latin typeface="Microsoft JhengHei"/>
              </a:rPr>
              <a:t> + PySide6 </a:t>
            </a:r>
            <a:r>
              <a:rPr sz="1000" b="0" dirty="0" err="1">
                <a:solidFill>
                  <a:srgbClr val="706254"/>
                </a:solidFill>
                <a:latin typeface="Microsoft JhengHei"/>
              </a:rPr>
              <a:t>教學規劃</a:t>
            </a:r>
            <a:endParaRPr sz="1000" b="0" dirty="0">
              <a:solidFill>
                <a:srgbClr val="706254"/>
              </a:solidFill>
              <a:latin typeface="Microsoft JhengHe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階段 0：讓 AI 先遵守專案規則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706254"/>
                </a:solidFill>
                <a:latin typeface="Microsoft JhengHei"/>
              </a:rPr>
              <a:t>第一個練習</a:t>
            </a:r>
            <a:endParaRPr sz="1400" b="0" dirty="0">
              <a:solidFill>
                <a:srgbClr val="706254"/>
              </a:solidFill>
              <a:latin typeface="Microsoft Jheng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3520440" cy="4480560"/>
          </a:xfrm>
          <a:prstGeom prst="roundRect">
            <a:avLst/>
          </a:prstGeom>
          <a:solidFill>
            <a:srgbClr val="FFF9EF"/>
          </a:solidFill>
          <a:ln>
            <a:solidFill>
              <a:srgbClr val="28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435607"/>
            <a:ext cx="3191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7E74"/>
                </a:solidFill>
                <a:latin typeface="Microsoft JhengHei"/>
              </a:rPr>
              <a:t>啟動專案提示詞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828800"/>
            <a:ext cx="319125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 err="1">
                <a:solidFill>
                  <a:srgbClr val="302720"/>
                </a:solidFill>
                <a:latin typeface="Microsoft JhengHei"/>
              </a:rPr>
              <a:t>請先閱讀</a:t>
            </a:r>
            <a:r>
              <a:rPr sz="1400" b="0" dirty="0">
                <a:solidFill>
                  <a:srgbClr val="302720"/>
                </a:solidFill>
                <a:latin typeface="Microsoft JhengHei"/>
              </a:rPr>
              <a:t> pyCycle_edu\AGENTS.md 與 docs/dev-log/README.md。</a:t>
            </a:r>
            <a:br>
              <a:rPr sz="2000" dirty="0"/>
            </a:br>
            <a:r>
              <a:rPr sz="1400" b="0" dirty="0" err="1">
                <a:solidFill>
                  <a:srgbClr val="302720"/>
                </a:solidFill>
                <a:latin typeface="Microsoft JhengHei"/>
              </a:rPr>
              <a:t>任務：規劃</a:t>
            </a:r>
            <a:r>
              <a:rPr sz="1400" b="0" dirty="0">
                <a:solidFill>
                  <a:srgbClr val="302720"/>
                </a:solidFill>
                <a:latin typeface="Microsoft JhengHei"/>
              </a:rPr>
              <a:t> </a:t>
            </a:r>
            <a:r>
              <a:rPr sz="1400" b="0" dirty="0" err="1">
                <a:solidFill>
                  <a:srgbClr val="302720"/>
                </a:solidFill>
                <a:latin typeface="Microsoft JhengHei"/>
              </a:rPr>
              <a:t>pyCycle</a:t>
            </a:r>
            <a:r>
              <a:rPr sz="1400" b="0" dirty="0">
                <a:solidFill>
                  <a:srgbClr val="302720"/>
                </a:solidFill>
                <a:latin typeface="Microsoft JhengHei"/>
              </a:rPr>
              <a:t> </a:t>
            </a:r>
            <a:r>
              <a:rPr lang="en-US" altLang="zh-TW" sz="1400" b="0" dirty="0" err="1">
                <a:solidFill>
                  <a:srgbClr val="302720"/>
                </a:solidFill>
                <a:latin typeface="Microsoft JhengHei"/>
              </a:rPr>
              <a:t>UI</a:t>
            </a:r>
            <a:r>
              <a:rPr sz="1400" b="0" dirty="0" err="1">
                <a:solidFill>
                  <a:srgbClr val="302720"/>
                </a:solidFill>
                <a:latin typeface="Microsoft JhengHei"/>
              </a:rPr>
              <a:t>專案</a:t>
            </a:r>
            <a:r>
              <a:rPr sz="1400" b="0" dirty="0">
                <a:solidFill>
                  <a:srgbClr val="302720"/>
                </a:solidFill>
                <a:latin typeface="Microsoft JhengHei"/>
              </a:rPr>
              <a:t>。</a:t>
            </a:r>
            <a:br>
              <a:rPr sz="2000" dirty="0"/>
            </a:br>
            <a:r>
              <a:rPr sz="1400" b="0" dirty="0" err="1">
                <a:solidFill>
                  <a:srgbClr val="302720"/>
                </a:solidFill>
                <a:latin typeface="Microsoft JhengHei"/>
              </a:rPr>
              <a:t>限制：不要修改</a:t>
            </a:r>
            <a:r>
              <a:rPr sz="1400" b="0" dirty="0">
                <a:solidFill>
                  <a:srgbClr val="302720"/>
                </a:solidFill>
                <a:latin typeface="Microsoft JhengHei"/>
              </a:rPr>
              <a:t> upstream/</a:t>
            </a:r>
            <a:r>
              <a:rPr sz="1400" b="0" dirty="0" err="1">
                <a:solidFill>
                  <a:srgbClr val="302720"/>
                </a:solidFill>
                <a:latin typeface="Microsoft JhengHei"/>
              </a:rPr>
              <a:t>pyCycle；任何資料來源先記錄到</a:t>
            </a:r>
            <a:r>
              <a:rPr sz="1400" b="0" dirty="0">
                <a:solidFill>
                  <a:srgbClr val="302720"/>
                </a:solidFill>
                <a:latin typeface="Microsoft JhengHei"/>
              </a:rPr>
              <a:t> </a:t>
            </a:r>
            <a:r>
              <a:rPr sz="1400" b="0" dirty="0" err="1">
                <a:solidFill>
                  <a:srgbClr val="302720"/>
                </a:solidFill>
                <a:latin typeface="Microsoft JhengHei"/>
              </a:rPr>
              <a:t>Reference_sources</a:t>
            </a:r>
            <a:r>
              <a:rPr sz="1400" b="0" dirty="0">
                <a:solidFill>
                  <a:srgbClr val="302720"/>
                </a:solidFill>
                <a:latin typeface="Microsoft JhengHei"/>
              </a:rPr>
              <a:t>。</a:t>
            </a:r>
            <a:br>
              <a:rPr sz="2000" dirty="0"/>
            </a:br>
            <a:r>
              <a:rPr sz="1400" b="0" dirty="0" err="1">
                <a:solidFill>
                  <a:srgbClr val="302720"/>
                </a:solidFill>
                <a:latin typeface="Microsoft JhengHei"/>
              </a:rPr>
              <a:t>輸出：請列出你會建立的檔案、驗證命令、風險</a:t>
            </a:r>
            <a:r>
              <a:rPr sz="1400" b="0" dirty="0">
                <a:solidFill>
                  <a:srgbClr val="302720"/>
                </a:solidFill>
                <a:latin typeface="Microsoft JhengHei"/>
              </a:rPr>
              <a:t>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25880"/>
            <a:ext cx="3520440" cy="4480560"/>
          </a:xfrm>
          <a:prstGeom prst="roundRect">
            <a:avLst/>
          </a:prstGeom>
          <a:solidFill>
            <a:srgbClr val="FFF9EF"/>
          </a:solidFill>
          <a:ln>
            <a:solidFill>
              <a:srgbClr val="43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45152" y="1435607"/>
            <a:ext cx="3191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36697"/>
                </a:solidFill>
                <a:latin typeface="Microsoft JhengHei"/>
              </a:rPr>
              <a:t>要求 AI 先查規則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45152" y="1828800"/>
            <a:ext cx="31912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在分析或修改之前，請從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 repo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根目錄執行：npx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gitnexus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 analyze --embeddings。</a:t>
            </a:r>
            <a:br>
              <a:rPr sz="2400" dirty="0"/>
            </a:b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完成後摘要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GitNexus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結果，並說明哪些檔案可以改、哪些只能讀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75320" y="1325880"/>
            <a:ext cx="3520440" cy="4480560"/>
          </a:xfrm>
          <a:prstGeom prst="roundRect">
            <a:avLst/>
          </a:prstGeom>
          <a:solidFill>
            <a:srgbClr val="FFF9EF"/>
          </a:solidFill>
          <a:ln>
            <a:solidFill>
              <a:srgbClr val="B85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439912" y="1435607"/>
            <a:ext cx="319125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85D36"/>
                </a:solidFill>
                <a:latin typeface="Microsoft JhengHei"/>
              </a:rPr>
              <a:t>要求 AI 回報證據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39912" y="1828800"/>
            <a:ext cx="319125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每完成一階段，請列出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：</a:t>
            </a:r>
            <a:br>
              <a:rPr sz="2400" dirty="0"/>
            </a:br>
            <a:r>
              <a:rPr sz="1600" b="0" dirty="0">
                <a:solidFill>
                  <a:srgbClr val="302720"/>
                </a:solidFill>
                <a:latin typeface="Microsoft JhengHei"/>
              </a:rPr>
              <a:t>1.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實際執行命令</a:t>
            </a:r>
            <a:br>
              <a:rPr sz="2400" dirty="0"/>
            </a:br>
            <a:r>
              <a:rPr sz="1600" b="0" dirty="0">
                <a:solidFill>
                  <a:srgbClr val="302720"/>
                </a:solidFill>
                <a:latin typeface="Microsoft JhengHei"/>
              </a:rPr>
              <a:t>2.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產生或修改的檔案</a:t>
            </a:r>
            <a:br>
              <a:rPr sz="2400" dirty="0"/>
            </a:br>
            <a:r>
              <a:rPr sz="1600" b="0" dirty="0">
                <a:solidFill>
                  <a:srgbClr val="302720"/>
                </a:solidFill>
                <a:latin typeface="Microsoft JhengHei"/>
              </a:rPr>
              <a:t>3.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驗證結果</a:t>
            </a:r>
            <a:br>
              <a:rPr sz="2400" dirty="0"/>
            </a:br>
            <a:r>
              <a:rPr sz="1600" b="0" dirty="0">
                <a:solidFill>
                  <a:srgbClr val="302720"/>
                </a:solidFill>
                <a:latin typeface="Microsoft JhengHei"/>
              </a:rPr>
              <a:t>4.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下一步風險</a:t>
            </a:r>
            <a:endParaRPr sz="1600" b="0" dirty="0">
              <a:solidFill>
                <a:srgbClr val="302720"/>
              </a:solidFill>
              <a:latin typeface="Microsoft JhengHei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階段 1：用 uv 管理 .venv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把環境管理變成可重現的提示詞任務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5257800" cy="4754880"/>
          </a:xfrm>
          <a:prstGeom prst="roundRect">
            <a:avLst/>
          </a:prstGeom>
          <a:solidFill>
            <a:srgbClr val="FFF9EF"/>
          </a:solidFill>
          <a:ln>
            <a:solidFill>
              <a:srgbClr val="28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344168"/>
            <a:ext cx="4928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7E74"/>
                </a:solidFill>
                <a:latin typeface="Microsoft JhengHei"/>
              </a:rPr>
              <a:t>學生提示詞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737360"/>
            <a:ext cx="4928616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請在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pyCycle_edu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建立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uv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管理的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 Python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環境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。</a:t>
            </a:r>
            <a:br>
              <a:rPr sz="2400" dirty="0"/>
            </a:b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需求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：</a:t>
            </a:r>
            <a:br>
              <a:rPr sz="2400" dirty="0"/>
            </a:br>
            <a:r>
              <a:rPr sz="1600" b="0" dirty="0">
                <a:solidFill>
                  <a:srgbClr val="302720"/>
                </a:solidFill>
                <a:latin typeface="Microsoft JhengHei"/>
              </a:rPr>
              <a:t>-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建立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 .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venv</a:t>
            </a:r>
            <a:br>
              <a:rPr sz="2400" dirty="0"/>
            </a:br>
            <a:r>
              <a:rPr sz="1600" b="0" dirty="0">
                <a:solidFill>
                  <a:srgbClr val="302720"/>
                </a:solidFill>
                <a:latin typeface="Microsoft JhengHei"/>
              </a:rPr>
              <a:t>-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安裝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 om-pycycle、openmdao、pyside6、matplotlib、pandas</a:t>
            </a:r>
            <a:br>
              <a:rPr sz="2400" dirty="0"/>
            </a:br>
            <a:r>
              <a:rPr sz="1600" b="0" dirty="0">
                <a:solidFill>
                  <a:srgbClr val="302720"/>
                </a:solidFill>
                <a:latin typeface="Microsoft JhengHei"/>
              </a:rPr>
              <a:t>-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產生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pyproject.toml</a:t>
            </a:r>
            <a:br>
              <a:rPr sz="2400" dirty="0"/>
            </a:br>
            <a:r>
              <a:rPr sz="1600" b="0" dirty="0">
                <a:solidFill>
                  <a:srgbClr val="302720"/>
                </a:solidFill>
                <a:latin typeface="Microsoft JhengHei"/>
              </a:rPr>
              <a:t>- 用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uv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 run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驗證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 import </a:t>
            </a: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pycycle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 與 import PySide6</a:t>
            </a:r>
            <a:br>
              <a:rPr sz="2400" dirty="0"/>
            </a:br>
            <a:r>
              <a:rPr sz="1600" b="0" dirty="0" err="1">
                <a:solidFill>
                  <a:srgbClr val="302720"/>
                </a:solidFill>
                <a:latin typeface="Microsoft JhengHei"/>
              </a:rPr>
              <a:t>請先列命令，再執行，最後摘要結果</a:t>
            </a:r>
            <a:r>
              <a:rPr sz="1600" b="0" dirty="0">
                <a:solidFill>
                  <a:srgbClr val="302720"/>
                </a:solidFill>
                <a:latin typeface="Microsoft JhengHei"/>
              </a:rPr>
              <a:t>。</a:t>
            </a:r>
          </a:p>
        </p:txBody>
      </p:sp>
      <p:pic>
        <p:nvPicPr>
          <p:cNvPr id="8" name="Picture 7" descr="uv_environ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335881"/>
            <a:ext cx="5166360" cy="290607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4526280"/>
            <a:ext cx="4983480" cy="1389888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4663440"/>
            <a:ext cx="4617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D36"/>
                </a:solidFill>
                <a:latin typeface="Microsoft JhengHei"/>
              </a:rPr>
              <a:t>驗證重點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5148072"/>
            <a:ext cx="4572000" cy="3931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 dirty="0">
                <a:solidFill>
                  <a:srgbClr val="352D26"/>
                </a:solidFill>
                <a:latin typeface="Microsoft JhengHei"/>
              </a:rPr>
              <a:t>• </a:t>
            </a:r>
            <a:r>
              <a:rPr sz="1420" b="0" dirty="0" err="1">
                <a:solidFill>
                  <a:srgbClr val="352D26"/>
                </a:solidFill>
                <a:latin typeface="Microsoft JhengHei"/>
              </a:rPr>
              <a:t>不能用全域</a:t>
            </a:r>
            <a:r>
              <a:rPr sz="1420" b="0" dirty="0">
                <a:solidFill>
                  <a:srgbClr val="352D26"/>
                </a:solidFill>
                <a:latin typeface="Microsoft JhengHei"/>
              </a:rPr>
              <a:t> Python </a:t>
            </a:r>
            <a:r>
              <a:rPr sz="1420" b="0" dirty="0" err="1">
                <a:solidFill>
                  <a:srgbClr val="352D26"/>
                </a:solidFill>
                <a:latin typeface="Microsoft JhengHei"/>
              </a:rPr>
              <a:t>冒充</a:t>
            </a:r>
            <a:r>
              <a:rPr sz="1420" b="0" dirty="0">
                <a:solidFill>
                  <a:srgbClr val="352D26"/>
                </a:solidFill>
                <a:latin typeface="Microsoft JhengHei"/>
              </a:rPr>
              <a:t> .</a:t>
            </a:r>
            <a:r>
              <a:rPr sz="1420" b="0" dirty="0" err="1">
                <a:solidFill>
                  <a:srgbClr val="352D26"/>
                </a:solidFill>
                <a:latin typeface="Microsoft JhengHei"/>
              </a:rPr>
              <a:t>venv</a:t>
            </a:r>
            <a:br>
              <a:rPr dirty="0"/>
            </a:br>
            <a:r>
              <a:rPr sz="1420" b="0" dirty="0">
                <a:solidFill>
                  <a:srgbClr val="352D26"/>
                </a:solidFill>
                <a:latin typeface="Microsoft JhengHei"/>
              </a:rPr>
              <a:t>• </a:t>
            </a:r>
            <a:r>
              <a:rPr sz="1420" b="0" dirty="0" err="1">
                <a:solidFill>
                  <a:srgbClr val="352D26"/>
                </a:solidFill>
                <a:latin typeface="Microsoft JhengHei"/>
              </a:rPr>
              <a:t>若套件衝突，請</a:t>
            </a:r>
            <a:r>
              <a:rPr sz="1420" b="0" dirty="0">
                <a:solidFill>
                  <a:srgbClr val="352D26"/>
                </a:solidFill>
                <a:latin typeface="Microsoft JhengHei"/>
              </a:rPr>
              <a:t> AI </a:t>
            </a:r>
            <a:r>
              <a:rPr sz="1420" b="0" dirty="0" err="1">
                <a:solidFill>
                  <a:srgbClr val="352D26"/>
                </a:solidFill>
                <a:latin typeface="Microsoft JhengHei"/>
              </a:rPr>
              <a:t>解釋版本原因</a:t>
            </a:r>
            <a:endParaRPr sz="1420" b="0" dirty="0">
              <a:solidFill>
                <a:srgbClr val="352D26"/>
              </a:solidFill>
              <a:latin typeface="Microsoft JhengHei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階段 2：參考資料治理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dirty="0">
                <a:solidFill>
                  <a:srgbClr val="706254"/>
                </a:solidFill>
                <a:latin typeface="Microsoft JhengHei"/>
              </a:rPr>
              <a:t>CFM56-7B </a:t>
            </a:r>
            <a:r>
              <a:rPr sz="1400" b="0" dirty="0" err="1">
                <a:solidFill>
                  <a:srgbClr val="706254"/>
                </a:solidFill>
                <a:latin typeface="Microsoft JhengHei"/>
              </a:rPr>
              <a:t>的資料先存，再拿來驗證</a:t>
            </a:r>
            <a:endParaRPr sz="1400" b="0" dirty="0">
              <a:solidFill>
                <a:srgbClr val="706254"/>
              </a:solidFill>
              <a:latin typeface="Microsoft JhengHei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1796612"/>
              </p:ext>
            </p:extLst>
          </p:nvPr>
        </p:nvGraphicFramePr>
        <p:xfrm>
          <a:off x="640080" y="1234440"/>
          <a:ext cx="10972799" cy="2310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97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4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資料</a:t>
                      </a:r>
                      <a:endParaRPr sz="1400" b="1" dirty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用途</a:t>
                      </a:r>
                    </a:p>
                  </a:txBody>
                  <a:tcPr anchor="ctr"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  <a:latin typeface="Microsoft JhengHei"/>
                        </a:rPr>
                        <a:t>存放方式</a:t>
                      </a:r>
                    </a:p>
                  </a:txBody>
                  <a:tcPr anchor="ctr">
                    <a:solidFill>
                      <a:srgbClr val="4A3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2D26"/>
                          </a:solidFill>
                          <a:latin typeface="Microsoft JhengHei"/>
                        </a:rPr>
                        <a:t>CFM / Safran 官方頁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發動機系列背景、推力級距</a:t>
                      </a:r>
                      <a:endParaRPr sz="14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2D26"/>
                          </a:solidFill>
                          <a:latin typeface="Microsoft JhengHei"/>
                        </a:rPr>
                        <a:t>URL + 擷取欄位 + 下載狀態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CFM56-7B specs PDF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BPR、推力、尺寸等交叉檢查</a:t>
                      </a:r>
                      <a:endParaRPr sz="14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2D26"/>
                          </a:solidFill>
                          <a:latin typeface="Microsoft JhengHei"/>
                        </a:rPr>
                        <a:t>PDF 存 Reference_sources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2D26"/>
                          </a:solidFill>
                          <a:latin typeface="Microsoft JhengHei"/>
                        </a:rPr>
                        <a:t>pyCycle README / paper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模型能力與範例來源</a:t>
                      </a:r>
                      <a:endParaRPr sz="14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README / PDF 存 </a:t>
                      </a:r>
                      <a:r>
                        <a:rPr sz="14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Reference_sources</a:t>
                      </a:r>
                      <a:endParaRPr sz="14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8056">
                <a:tc>
                  <a:txBody>
                    <a:bodyPr/>
                    <a:lstStyle/>
                    <a:p>
                      <a:pPr algn="ctr"/>
                      <a:r>
                        <a:rPr sz="1400" b="0">
                          <a:solidFill>
                            <a:srgbClr val="352D26"/>
                          </a:solidFill>
                          <a:latin typeface="Microsoft JhengHei"/>
                        </a:rPr>
                        <a:t>pyCycle high_bypass_turbofan.py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教學模型骨架</a:t>
                      </a:r>
                      <a:endParaRPr sz="14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只讀</a:t>
                      </a:r>
                      <a:r>
                        <a:rPr sz="14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</a:t>
                      </a:r>
                      <a:r>
                        <a:rPr sz="14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upstream，不修改</a:t>
                      </a:r>
                      <a:endParaRPr sz="14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6" name="Picture 5" descr="source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544824"/>
            <a:ext cx="5238681" cy="2946758"/>
          </a:xfrm>
          <a:prstGeom prst="rect">
            <a:avLst/>
          </a:prstGeom>
        </p:spPr>
      </p:pic>
      <p:grpSp>
        <p:nvGrpSpPr>
          <p:cNvPr id="19" name="群組 18">
            <a:extLst>
              <a:ext uri="{FF2B5EF4-FFF2-40B4-BE49-F238E27FC236}">
                <a16:creationId xmlns:a16="http://schemas.microsoft.com/office/drawing/2014/main" id="{CC9B3621-78D6-15FE-3EB9-783DC1904AD6}"/>
              </a:ext>
            </a:extLst>
          </p:cNvPr>
          <p:cNvGrpSpPr/>
          <p:nvPr/>
        </p:nvGrpSpPr>
        <p:grpSpPr>
          <a:xfrm>
            <a:off x="5741601" y="4297680"/>
            <a:ext cx="6172200" cy="1691640"/>
            <a:chOff x="5257800" y="3794760"/>
            <a:chExt cx="6172200" cy="1691640"/>
          </a:xfrm>
        </p:grpSpPr>
        <p:sp>
          <p:nvSpPr>
            <p:cNvPr id="7" name="Rounded Rectangle 6"/>
            <p:cNvSpPr/>
            <p:nvPr/>
          </p:nvSpPr>
          <p:spPr>
            <a:xfrm>
              <a:off x="5257800" y="3794760"/>
              <a:ext cx="6172200" cy="1691640"/>
            </a:xfrm>
            <a:prstGeom prst="roundRect">
              <a:avLst/>
            </a:prstGeom>
            <a:solidFill>
              <a:srgbClr val="FFF9EF"/>
            </a:solidFill>
            <a:ln>
              <a:solidFill>
                <a:srgbClr val="B85D3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5422392" y="3904488"/>
              <a:ext cx="5843016" cy="32918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500" b="1">
                  <a:solidFill>
                    <a:srgbClr val="B85D36"/>
                  </a:solidFill>
                  <a:latin typeface="Microsoft JhengHei"/>
                </a:rPr>
                <a:t>資料蒐集提示詞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5422392" y="4297680"/>
              <a:ext cx="5843016" cy="86177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/>
              <a:r>
                <a:rPr sz="1250" b="0" dirty="0" err="1">
                  <a:solidFill>
                    <a:srgbClr val="302720"/>
                  </a:solidFill>
                  <a:latin typeface="Microsoft JhengHei"/>
                </a:rPr>
                <a:t>請以</a:t>
              </a:r>
              <a:r>
                <a:rPr sz="1250" b="0" dirty="0">
                  <a:solidFill>
                    <a:srgbClr val="302720"/>
                  </a:solidFill>
                  <a:latin typeface="Microsoft JhengHei"/>
                </a:rPr>
                <a:t> CFM56-7B </a:t>
              </a:r>
              <a:r>
                <a:rPr sz="1250" b="0" dirty="0" err="1">
                  <a:solidFill>
                    <a:srgbClr val="302720"/>
                  </a:solidFill>
                  <a:latin typeface="Microsoft JhengHei"/>
                </a:rPr>
                <a:t>為主題搜尋官方或可信來源。所有資料先寫入</a:t>
              </a:r>
              <a:r>
                <a:rPr sz="1250" b="0" dirty="0">
                  <a:solidFill>
                    <a:srgbClr val="302720"/>
                  </a:solidFill>
                  <a:latin typeface="Microsoft JhengHei"/>
                </a:rPr>
                <a:t> </a:t>
              </a:r>
              <a:r>
                <a:rPr sz="1250" b="0" dirty="0" err="1">
                  <a:solidFill>
                    <a:srgbClr val="302720"/>
                  </a:solidFill>
                  <a:latin typeface="Microsoft JhengHei"/>
                </a:rPr>
                <a:t>pyCycle_edu</a:t>
              </a:r>
              <a:r>
                <a:rPr sz="1250" b="0" dirty="0">
                  <a:solidFill>
                    <a:srgbClr val="302720"/>
                  </a:solidFill>
                  <a:latin typeface="Microsoft JhengHei"/>
                </a:rPr>
                <a:t>\</a:t>
              </a:r>
              <a:r>
                <a:rPr sz="1250" b="0" dirty="0" err="1">
                  <a:solidFill>
                    <a:srgbClr val="302720"/>
                  </a:solidFill>
                  <a:latin typeface="Microsoft JhengHei"/>
                </a:rPr>
                <a:t>Reference_sources</a:t>
              </a:r>
              <a:r>
                <a:rPr sz="1250" b="0" dirty="0">
                  <a:solidFill>
                    <a:srgbClr val="302720"/>
                  </a:solidFill>
                  <a:latin typeface="Microsoft JhengHei"/>
                </a:rPr>
                <a:t>\source_manifest.md。</a:t>
              </a:r>
              <a:br>
                <a:rPr dirty="0"/>
              </a:br>
              <a:r>
                <a:rPr sz="1250" b="0" dirty="0" err="1">
                  <a:solidFill>
                    <a:srgbClr val="302720"/>
                  </a:solidFill>
                  <a:latin typeface="Microsoft JhengHei"/>
                </a:rPr>
                <a:t>每筆資料需包含：URL、存取日期、下載狀態、可驗證欄位、是否能直接對照</a:t>
              </a:r>
              <a:r>
                <a:rPr sz="1250" b="0" dirty="0">
                  <a:solidFill>
                    <a:srgbClr val="302720"/>
                  </a:solidFill>
                  <a:latin typeface="Microsoft JhengHei"/>
                </a:rPr>
                <a:t> </a:t>
              </a:r>
              <a:r>
                <a:rPr sz="1250" b="0" dirty="0" err="1">
                  <a:solidFill>
                    <a:srgbClr val="302720"/>
                  </a:solidFill>
                  <a:latin typeface="Microsoft JhengHei"/>
                </a:rPr>
                <a:t>pyCycle</a:t>
              </a:r>
              <a:r>
                <a:rPr sz="1250" b="0" dirty="0">
                  <a:solidFill>
                    <a:srgbClr val="302720"/>
                  </a:solidFill>
                  <a:latin typeface="Microsoft JhengHei"/>
                </a:rPr>
                <a:t>。</a:t>
              </a:r>
            </a:p>
          </p:txBody>
        </p:sp>
      </p:grpSp>
      <p:sp>
        <p:nvSpPr>
          <p:cNvPr id="10" name="Oval 9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為什麼第一版選 CFM56-7B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主流、資料多、和 pyCycle 高旁通比範例相容</a:t>
            </a:r>
          </a:p>
        </p:txBody>
      </p:sp>
      <p:pic>
        <p:nvPicPr>
          <p:cNvPr id="5" name="Picture 4" descr="turbofan_cutaw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9606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46520" y="1417320"/>
            <a:ext cx="480060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629400" y="155448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dirty="0" err="1">
                <a:solidFill>
                  <a:srgbClr val="287E74"/>
                </a:solidFill>
                <a:latin typeface="Microsoft JhengHei"/>
              </a:rPr>
              <a:t>優點</a:t>
            </a:r>
            <a:endParaRPr sz="1800" b="1" dirty="0">
              <a:solidFill>
                <a:srgbClr val="287E74"/>
              </a:solidFill>
              <a:latin typeface="Microsoft JhengHe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75120" y="2039112"/>
            <a:ext cx="4389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737NG 常見，學生容易理解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公開資料多，可練習交叉驗證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46520" y="2926080"/>
            <a:ext cx="480060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29400" y="306324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36697"/>
                </a:solidFill>
                <a:latin typeface="Microsoft JhengHei"/>
              </a:rPr>
              <a:t>模型定位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547872"/>
            <a:ext cx="4389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pyCycle 範例是教學骨架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先做趨勢與量級驗證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46520" y="4434840"/>
            <a:ext cx="4800600" cy="13258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629400" y="457200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D36"/>
                </a:solidFill>
                <a:latin typeface="Microsoft JhengHei"/>
              </a:rPr>
              <a:t>第一版限制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5056631"/>
            <a:ext cx="438912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不做完整 GasTurb 複刻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不宣稱精準重現 CFM56-7B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階段 3：pyCycle 可以得到什麼資訊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從模型輸出轉成學生看得懂的工程報告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263673"/>
              </p:ext>
            </p:extLst>
          </p:nvPr>
        </p:nvGraphicFramePr>
        <p:xfrm>
          <a:off x="502920" y="1234440"/>
          <a:ext cx="1120140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66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0075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類別</a:t>
                      </a:r>
                      <a:endParaRPr sz="1800" b="1" dirty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</a:rPr>
                        <a:t>pyCycle 變數</a:t>
                      </a:r>
                    </a:p>
                  </a:txBody>
                  <a:tcPr anchor="ctr"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</a:rPr>
                        <a:t>可教學意義</a:t>
                      </a:r>
                    </a:p>
                  </a:txBody>
                  <a:tcPr anchor="ctr">
                    <a:solidFill>
                      <a:srgbClr val="4A3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整體性能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Fn</a:t>
                      </a:r>
                      <a:r>
                        <a:rPr sz="18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, </a:t>
                      </a:r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Fg</a:t>
                      </a:r>
                      <a:r>
                        <a:rPr sz="18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, ram drag, OPR, TSFC, BPR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推力、油耗、旁通比、總壓比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飛行條件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Mach, altitude, </a:t>
                      </a:r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dTs</a:t>
                      </a:r>
                      <a:r>
                        <a:rPr sz="18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, inlet W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不同高度/速度下的工作點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流站資料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Pt, Tt, </a:t>
                      </a:r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ht</a:t>
                      </a:r>
                      <a:r>
                        <a:rPr sz="18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, entropy, Ps, W, MN, V, area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每一站總壓/總溫/質流/面積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壓縮機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Wc, PR, eta, Nc, map line, surge margin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壓縮效率與喘振裕度</a:t>
                      </a:r>
                      <a:endParaRPr sz="18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燃燒室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TtOut, Wfuel, FAR, pressure loss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燃油流量與燃氣溫度</a:t>
                      </a:r>
                      <a:endParaRPr sz="18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渦輪/軸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PR, eff, power, torque balance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高低壓軸功率平衡</a:t>
                      </a:r>
                      <a:endParaRPr sz="18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0075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噴嘴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PR, throat area, MN, V, gross thrust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核心與旁通噴嘴推力</a:t>
                      </a:r>
                      <a:endParaRPr sz="18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pyCycle 範例切入點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high_bypass_turbofan.py 的課堂閱讀路線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1234440"/>
          <a:ext cx="108356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0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7512"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區塊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程式概念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1">
                          <a:solidFill>
                            <a:srgbClr val="FFFFFF"/>
                          </a:solidFill>
                          <a:latin typeface="Microsoft JhengHei"/>
                        </a:rPr>
                        <a:t>教學意義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Cycle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HBTF(pyc.Cycle)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建立高旁通比渦扇架構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Elements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Inlet, Compressor, Splitter, Combustor, Turbine, Nozzle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每個元件代表一段熱力或流體模型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Balances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W, FAR, lpt_PR, hpt_PR, BPR, spool speed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求解推力、T4、功率平衡與噴嘴面積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7512"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Viewer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summary + flow station + component tables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80" b="0">
                          <a:solidFill>
                            <a:srgbClr val="352D26"/>
                          </a:solidFill>
                          <a:latin typeface="Microsoft JhengHei"/>
                        </a:rPr>
                        <a:t>把 OpenMDAO 結果轉成可讀報表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822960" y="4983480"/>
            <a:ext cx="10515600" cy="1051560"/>
          </a:xfrm>
          <a:prstGeom prst="roundRect">
            <a:avLst/>
          </a:prstGeom>
          <a:solidFill>
            <a:srgbClr val="FFF9EF"/>
          </a:solidFill>
          <a:ln>
            <a:solidFill>
              <a:srgbClr val="28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87552" y="5093208"/>
            <a:ext cx="101864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7E74"/>
                </a:solidFill>
                <a:latin typeface="Microsoft JhengHei"/>
              </a:rPr>
              <a:t>閱讀提示詞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" y="5486400"/>
            <a:ext cx="10186416" cy="457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請閱讀 upstream/pyCycle/example_cycles/high_bypass_turbofan.py，只做摘要，不修改檔案。請用表格說明每個子系統、balance 變數與 viewer 輸出。</a:t>
            </a:r>
          </a:p>
        </p:txBody>
      </p:sp>
      <p:sp>
        <p:nvSpPr>
          <p:cNvPr id="9" name="Oval 8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階段 4：跑範例與驗證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先跑原始範例，再建立 wrapper 腳本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234440"/>
            <a:ext cx="5394960" cy="4480560"/>
          </a:xfrm>
          <a:prstGeom prst="roundRect">
            <a:avLst/>
          </a:prstGeom>
          <a:solidFill>
            <a:srgbClr val="FFF9EF"/>
          </a:solidFill>
          <a:ln>
            <a:solidFill>
              <a:srgbClr val="43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50392" y="1344168"/>
            <a:ext cx="50657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36697"/>
                </a:solidFill>
                <a:latin typeface="Microsoft JhengHei"/>
              </a:rPr>
              <a:t>執行提示詞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" y="1737360"/>
            <a:ext cx="5065776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請使用 uv run 執行 pyCycle high_bypass_turbofan 範例。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限制：不要修改 upstream/pyCycle。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請把輸出檔複製到 wrapper 的 results/ 目錄，並摘要 DESIGN 與 OD_part_pwr 的 Fn、TSFC、OPR、BPR、FAR。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若失敗，請先解釋錯誤來源再修正環境。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46520" y="1234440"/>
            <a:ext cx="4937760" cy="1874519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29400" y="137160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7E74"/>
                </a:solidFill>
                <a:latin typeface="Microsoft JhengHei"/>
              </a:rPr>
              <a:t>驗證命令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856232"/>
            <a:ext cx="4526280" cy="1124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uv run python upstream/pyCycle/example_cycles/high_bypass_turbofan.py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檢查 hbtf_view.out 是否產生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比對 Reference_sources 的 BPR/推力量級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46520" y="3429000"/>
            <a:ext cx="4937760" cy="196596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29400" y="3566160"/>
            <a:ext cx="4572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D36"/>
                </a:solidFill>
                <a:latin typeface="Microsoft JhengHei"/>
              </a:rPr>
              <a:t>學生要回答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050791"/>
            <a:ext cx="4526280" cy="12161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設計點與非設計點差在哪？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為什麼 off-design 要平衡噴嘴面積？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TSFC 的單位與意義是什麼？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哪些結果不能直接宣稱等於 CFM56-7B？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階段 5：PySide6 UI 功能規劃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先做工程工具，不做華麗展示頁</a:t>
            </a:r>
          </a:p>
        </p:txBody>
      </p:sp>
      <p:pic>
        <p:nvPicPr>
          <p:cNvPr id="5" name="Picture 4" descr="ui_mockup_lar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328166"/>
            <a:ext cx="5486400" cy="308610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583680" y="1143000"/>
            <a:ext cx="4800600" cy="1444752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766560" y="128016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36697"/>
                </a:solidFill>
                <a:latin typeface="Microsoft JhengHei"/>
              </a:rPr>
              <a:t>第一版輸入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12280" y="1764792"/>
            <a:ext cx="4389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Mach、altitude、dTs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Fn target、BPR、T4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設計點/非設計點選擇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743200"/>
            <a:ext cx="4800600" cy="1444752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766560" y="288036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7E74"/>
                </a:solidFill>
                <a:latin typeface="Microsoft JhengHei"/>
              </a:rPr>
              <a:t>第一版輸出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12280" y="3364992"/>
            <a:ext cx="4389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性能摘要表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流站與元件表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收斂狀態與警告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343400"/>
            <a:ext cx="4800600" cy="1444752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766560" y="4480560"/>
            <a:ext cx="4434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D36"/>
                </a:solidFill>
                <a:latin typeface="Microsoft JhengHei"/>
              </a:rPr>
              <a:t>第一版報告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12280" y="4965192"/>
            <a:ext cx="4389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正體中文報告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English report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引用來源與參數表</a:t>
            </a:r>
          </a:p>
        </p:txBody>
      </p:sp>
      <p:sp>
        <p:nvSpPr>
          <p:cNvPr id="15" name="Oval 14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UI 建置提示詞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要求 AI 先設計資料流，再寫 PySide6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188720"/>
            <a:ext cx="5440680" cy="4800600"/>
          </a:xfrm>
          <a:prstGeom prst="roundRect">
            <a:avLst/>
          </a:prstGeom>
          <a:solidFill>
            <a:srgbClr val="FFF9EF"/>
          </a:solidFill>
          <a:ln>
            <a:solidFill>
              <a:srgbClr val="28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04671" y="1298448"/>
            <a:ext cx="51114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7E74"/>
                </a:solidFill>
                <a:latin typeface="Microsoft JhengHei"/>
              </a:rPr>
              <a:t>介面設計提示詞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1" y="1691640"/>
            <a:ext cx="511149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請設計一個 PySide6 UI，用於操作 pyCycle 高旁通比渦扇教學模型。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限制：不要修改 upstream/pyCycle；模型呼叫放在 wrapper 模組。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畫面需包含：輸入表單、Run 按鈕、結果表、收斂訊息、匯出報告按鈕。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請先提出檔案結構與資料流，不要直接寫程式。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55080" y="1188720"/>
            <a:ext cx="5257800" cy="4800600"/>
          </a:xfrm>
          <a:prstGeom prst="roundRect">
            <a:avLst/>
          </a:prstGeom>
          <a:solidFill>
            <a:srgbClr val="FFF9EF"/>
          </a:solidFill>
          <a:ln>
            <a:solidFill>
              <a:srgbClr val="B85D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519672" y="1298448"/>
            <a:ext cx="4928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B85D36"/>
                </a:solidFill>
                <a:latin typeface="Microsoft JhengHei"/>
              </a:rPr>
              <a:t>實作提示詞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9672" y="1691640"/>
            <a:ext cx="4928616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根據前一步設計，請建立最小可用 PySide6 應用。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需求：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- 用 QMainWindow + QWidget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- 輸入值有驗證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- 長時間運算不可卡住 UI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- 結果用 QTableWidget 顯示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- 報告輸出為 Markdown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請附上 uv run 啟動命令與測試方式。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GasTurb 功能趨近路線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不是複刻介面，而是逐步補齊教學所需能力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6149773"/>
              </p:ext>
            </p:extLst>
          </p:nvPr>
        </p:nvGraphicFramePr>
        <p:xfrm>
          <a:off x="685800" y="1280160"/>
          <a:ext cx="10835640" cy="4251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階段</a:t>
                      </a:r>
                      <a:endParaRPr sz="1800" b="1" dirty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功能</a:t>
                      </a:r>
                      <a:endParaRPr sz="1800" b="1" dirty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學生看到的價值</a:t>
                      </a:r>
                      <a:endParaRPr sz="1800" b="1" dirty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1">
                          <a:solidFill>
                            <a:srgbClr val="FFFFFF"/>
                          </a:solidFill>
                          <a:latin typeface="Microsoft JhengHei"/>
                        </a:rPr>
                        <a:t>技術</a:t>
                      </a:r>
                    </a:p>
                  </a:txBody>
                  <a:tcPr anchor="ctr">
                    <a:solidFill>
                      <a:srgbClr val="4A3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1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單一工作點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輸入</a:t>
                      </a:r>
                      <a:r>
                        <a:rPr sz="18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Mach/altitude/</a:t>
                      </a:r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Fn，輸出性能表</a:t>
                      </a:r>
                      <a:endParaRPr sz="18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pyCycle example + UI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2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參數掃描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改變</a:t>
                      </a:r>
                      <a:r>
                        <a:rPr sz="18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BPR/T4/</a:t>
                      </a:r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高度，看</a:t>
                      </a:r>
                      <a:r>
                        <a:rPr sz="18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TSFC 與 </a:t>
                      </a:r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Fn</a:t>
                      </a:r>
                      <a:r>
                        <a:rPr sz="18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</a:t>
                      </a:r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趨勢</a:t>
                      </a:r>
                      <a:endParaRPr sz="18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pandas + matplotlib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3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流程圖視覺化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顯示</a:t>
                      </a:r>
                      <a:r>
                        <a:rPr sz="18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inlet/fan/core/bypass/nozzle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PySide6 scene 或簡圖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4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資料驗證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把來源數值與模型結果並列</a:t>
                      </a:r>
                      <a:endParaRPr sz="18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Reference_sources</a:t>
                      </a:r>
                      <a:r>
                        <a:rPr sz="18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manifest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8660"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5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報告產生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>
                          <a:solidFill>
                            <a:srgbClr val="352D26"/>
                          </a:solidFill>
                          <a:latin typeface="Microsoft JhengHei"/>
                        </a:rPr>
                        <a:t>中文/英文工程摘要與引用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8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Markdown / PDF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報告產生：正體中文與英文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同一份模型結果，輸出兩種工程語言</a:t>
            </a:r>
          </a:p>
        </p:txBody>
      </p:sp>
      <p:pic>
        <p:nvPicPr>
          <p:cNvPr id="5" name="Picture 4" descr="report_biling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298448"/>
            <a:ext cx="5120640" cy="28803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126480" y="1234440"/>
            <a:ext cx="5257800" cy="2057400"/>
          </a:xfrm>
          <a:prstGeom prst="roundRect">
            <a:avLst/>
          </a:prstGeom>
          <a:solidFill>
            <a:srgbClr val="FFF9EF"/>
          </a:solidFill>
          <a:ln>
            <a:solidFill>
              <a:srgbClr val="28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291072" y="1344168"/>
            <a:ext cx="4928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7E74"/>
                </a:solidFill>
                <a:latin typeface="Microsoft JhengHei"/>
              </a:rPr>
              <a:t>中文報告提示詞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91072" y="1737360"/>
            <a:ext cx="4928616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請根據 pyCycle 結果產生正體中文工程報告。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章節：摘要、輸入條件、主要結果、與 CFM56-7B 公開資料比較、限制與下一步。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要求：所有數值附單位；引用 Reference_sources/source_manifest.md；不要誇大模型精度。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3611880"/>
            <a:ext cx="5257800" cy="2011680"/>
          </a:xfrm>
          <a:prstGeom prst="roundRect">
            <a:avLst/>
          </a:prstGeom>
          <a:solidFill>
            <a:srgbClr val="FFF9EF"/>
          </a:solidFill>
          <a:ln>
            <a:solidFill>
              <a:srgbClr val="4366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291072" y="3721608"/>
            <a:ext cx="49286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36697"/>
                </a:solidFill>
                <a:latin typeface="Microsoft JhengHei"/>
              </a:rPr>
              <a:t>English report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91072" y="4114800"/>
            <a:ext cx="4928616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Generate an engineering report in English from the pyCycle output.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Sections: Executive Summary, Inputs, Key Results, Comparison Against Public CFM56-7B Data, Model Limitations, Next Steps.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Use units for every value and cite Reference_sources/source_manifest.md.</a:t>
            </a:r>
          </a:p>
        </p:txBody>
      </p:sp>
      <p:sp>
        <p:nvSpPr>
          <p:cNvPr id="12" name="Oval 11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學生作業設計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每一週都有可驗證產出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9841652"/>
              </p:ext>
            </p:extLst>
          </p:nvPr>
        </p:nvGraphicFramePr>
        <p:xfrm>
          <a:off x="731520" y="1143000"/>
          <a:ext cx="10698480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93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2737"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週次</a:t>
                      </a:r>
                      <a:endParaRPr sz="2000" b="1" dirty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主題</a:t>
                      </a:r>
                      <a:endParaRPr sz="2000" b="1" dirty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1">
                          <a:solidFill>
                            <a:srgbClr val="FFFFFF"/>
                          </a:solidFill>
                          <a:latin typeface="Microsoft JhengHei"/>
                        </a:rPr>
                        <a:t>通過標準</a:t>
                      </a:r>
                    </a:p>
                  </a:txBody>
                  <a:tcPr anchor="ctr">
                    <a:solidFill>
                      <a:srgbClr val="4A3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52D26"/>
                          </a:solidFill>
                          <a:latin typeface="Microsoft JhengHei"/>
                        </a:rPr>
                        <a:t>第 1 週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52D26"/>
                          </a:solidFill>
                          <a:latin typeface="Microsoft JhengHei"/>
                        </a:rPr>
                        <a:t>提示詞與 repo 規則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52D26"/>
                          </a:solidFill>
                          <a:latin typeface="Microsoft JhengHei"/>
                        </a:rPr>
                        <a:t>能讓 AI 正確遵守不改 upstream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52D26"/>
                          </a:solidFill>
                          <a:latin typeface="Microsoft JhengHei"/>
                        </a:rPr>
                        <a:t>第 2 週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uv</a:t>
                      </a:r>
                      <a:r>
                        <a:rPr sz="20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+ </a:t>
                      </a:r>
                      <a:r>
                        <a:rPr sz="20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pyCycle</a:t>
                      </a:r>
                      <a:r>
                        <a:rPr sz="20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</a:t>
                      </a:r>
                      <a:r>
                        <a:rPr sz="20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範例</a:t>
                      </a:r>
                      <a:endParaRPr sz="20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52D26"/>
                          </a:solidFill>
                          <a:latin typeface="Microsoft JhengHei"/>
                        </a:rPr>
                        <a:t>能重現 high_bypass_turbofan 輸出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52D26"/>
                          </a:solidFill>
                          <a:latin typeface="Microsoft JhengHei"/>
                        </a:rPr>
                        <a:t>第 3 週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52D26"/>
                          </a:solidFill>
                          <a:latin typeface="Microsoft JhengHei"/>
                        </a:rPr>
                        <a:t>CFM56-7B 資料表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能說明每個來源能驗證什麼</a:t>
                      </a:r>
                      <a:endParaRPr sz="20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52D26"/>
                          </a:solidFill>
                          <a:latin typeface="Microsoft JhengHei"/>
                        </a:rPr>
                        <a:t>第 4 週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52D26"/>
                          </a:solidFill>
                          <a:latin typeface="Microsoft JhengHei"/>
                        </a:rPr>
                        <a:t>PySide6 最小 UI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能輸入條件並顯示結果</a:t>
                      </a:r>
                      <a:endParaRPr sz="20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2737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52D26"/>
                          </a:solidFill>
                          <a:latin typeface="Microsoft JhengHei"/>
                        </a:rPr>
                        <a:t>第 5 週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52D26"/>
                          </a:solidFill>
                          <a:latin typeface="Microsoft JhengHei"/>
                        </a:rPr>
                        <a:t>中英文報告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能引用來源並說明限制</a:t>
                      </a:r>
                      <a:endParaRPr sz="20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72738"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52D26"/>
                          </a:solidFill>
                          <a:latin typeface="Microsoft JhengHei"/>
                        </a:rPr>
                        <a:t>第 6 週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>
                          <a:solidFill>
                            <a:srgbClr val="352D26"/>
                          </a:solidFill>
                          <a:latin typeface="Microsoft JhengHei"/>
                        </a:rPr>
                        <a:t>參數掃描展示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0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能用圖表說明</a:t>
                      </a:r>
                      <a:r>
                        <a:rPr sz="20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BPR/T4/</a:t>
                      </a:r>
                      <a:r>
                        <a:rPr sz="20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高度趨勢</a:t>
                      </a:r>
                      <a:endParaRPr sz="2000" b="0" dirty="0">
                        <a:solidFill>
                          <a:srgbClr val="352D26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評分規準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評估 AI 使用能力，不只看程式跑不跑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417320"/>
            <a:ext cx="5349240" cy="45262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68680" y="1554480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36697"/>
                </a:solidFill>
                <a:latin typeface="Microsoft JhengHei"/>
              </a:rPr>
              <a:t>技術面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937759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uv 環境可重現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pyCycle 結果可解釋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UI 不阻塞且有輸入驗證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報告數值有單位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資料來源可追溯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417320"/>
            <a:ext cx="5349240" cy="452628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46520" y="1554480"/>
            <a:ext cx="498347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D36"/>
                </a:solidFill>
                <a:latin typeface="Microsoft JhengHei"/>
              </a:rPr>
              <a:t>AI 協作面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39112"/>
            <a:ext cx="4937759" cy="3776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提示詞清楚且可複製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AI 有先讀規則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錯誤修正有原因分析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沒有未驗證宣稱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有記錄 dev-log</a:t>
            </a:r>
          </a:p>
        </p:txBody>
      </p:sp>
      <p:sp>
        <p:nvSpPr>
          <p:cNvPr id="11" name="Oval 10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常見失敗與修正提示詞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把錯誤當成提示詞改寫訓練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8112630"/>
              </p:ext>
            </p:extLst>
          </p:nvPr>
        </p:nvGraphicFramePr>
        <p:xfrm>
          <a:off x="685800" y="1234440"/>
          <a:ext cx="1078992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600" b="1" dirty="0" err="1">
                          <a:solidFill>
                            <a:srgbClr val="FFFFFF"/>
                          </a:solidFill>
                          <a:latin typeface="Microsoft JhengHei"/>
                        </a:rPr>
                        <a:t>問題</a:t>
                      </a:r>
                      <a:endParaRPr sz="1600" b="1" dirty="0">
                        <a:solidFill>
                          <a:srgbClr val="FFFFFF"/>
                        </a:solidFill>
                        <a:latin typeface="Microsoft JhengHei"/>
                      </a:endParaRPr>
                    </a:p>
                  </a:txBody>
                  <a:tcPr anchor="ctr"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  <a:latin typeface="Microsoft JhengHei"/>
                        </a:rPr>
                        <a:t>修正提示詞</a:t>
                      </a:r>
                    </a:p>
                  </a:txBody>
                  <a:tcPr anchor="ctr">
                    <a:solidFill>
                      <a:srgbClr val="4A3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52D26"/>
                          </a:solidFill>
                          <a:latin typeface="Microsoft JhengHei"/>
                        </a:rPr>
                        <a:t>套件裝不起來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請檢查</a:t>
                      </a:r>
                      <a:r>
                        <a:rPr sz="16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pyproject.toml</a:t>
                      </a:r>
                      <a:r>
                        <a:rPr sz="16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與 </a:t>
                      </a:r>
                      <a:r>
                        <a:rPr sz="16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uv</a:t>
                      </a:r>
                      <a:r>
                        <a:rPr sz="16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lock，說明版本衝突來源，提出最小修正</a:t>
                      </a:r>
                      <a:r>
                        <a:rPr sz="16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。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52D26"/>
                          </a:solidFill>
                          <a:latin typeface="Microsoft JhengHei"/>
                        </a:rPr>
                        <a:t>pyCycle 不收斂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請不要任意改模型，先列出</a:t>
                      </a:r>
                      <a:r>
                        <a:rPr sz="16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balance </a:t>
                      </a:r>
                      <a:r>
                        <a:rPr sz="16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變數、初始猜測與可能物理原因</a:t>
                      </a:r>
                      <a:r>
                        <a:rPr sz="16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。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52D26"/>
                          </a:solidFill>
                          <a:latin typeface="Microsoft JhengHei"/>
                        </a:rPr>
                        <a:t>UI 卡住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請把模型運算移到</a:t>
                      </a:r>
                      <a:r>
                        <a:rPr sz="16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worker </a:t>
                      </a:r>
                      <a:r>
                        <a:rPr sz="16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thread，並讓</a:t>
                      </a:r>
                      <a:r>
                        <a:rPr sz="16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UI </a:t>
                      </a:r>
                      <a:r>
                        <a:rPr sz="16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顯示</a:t>
                      </a:r>
                      <a:r>
                        <a:rPr sz="16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running / failed / completed </a:t>
                      </a:r>
                      <a:r>
                        <a:rPr sz="16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狀態</a:t>
                      </a:r>
                      <a:r>
                        <a:rPr sz="16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。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52D26"/>
                          </a:solidFill>
                          <a:latin typeface="Microsoft JhengHei"/>
                        </a:rPr>
                        <a:t>資料來源混亂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請重新整理</a:t>
                      </a:r>
                      <a:r>
                        <a:rPr sz="16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 </a:t>
                      </a:r>
                      <a:r>
                        <a:rPr sz="16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Reference_sources</a:t>
                      </a:r>
                      <a:r>
                        <a:rPr sz="16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/</a:t>
                      </a:r>
                      <a:r>
                        <a:rPr sz="16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source_manifest.md，只保留可追溯來源</a:t>
                      </a:r>
                      <a:r>
                        <a:rPr sz="16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。</a:t>
                      </a:r>
                    </a:p>
                  </a:txBody>
                  <a:tcPr anchor="ctr"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600" b="0">
                          <a:solidFill>
                            <a:srgbClr val="352D26"/>
                          </a:solidFill>
                          <a:latin typeface="Microsoft JhengHei"/>
                        </a:rPr>
                        <a:t>報告太像廣告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600" b="0" dirty="0" err="1">
                          <a:solidFill>
                            <a:srgbClr val="352D26"/>
                          </a:solidFill>
                          <a:latin typeface="Microsoft JhengHei"/>
                        </a:rPr>
                        <a:t>請改寫為工程報告語氣，列出限制，不要宣稱等同原廠資料</a:t>
                      </a:r>
                      <a:r>
                        <a:rPr sz="1600" b="0" dirty="0">
                          <a:solidFill>
                            <a:srgbClr val="352D26"/>
                          </a:solidFill>
                          <a:latin typeface="Microsoft JhengHei"/>
                        </a:rPr>
                        <a:t>。</a:t>
                      </a:r>
                    </a:p>
                  </a:txBody>
                  <a:tcPr anchor="ctr"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課堂 Demo 腳本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老師可以照這張投影片帶一次完整流程</a:t>
            </a:r>
          </a:p>
        </p:txBody>
      </p:sp>
      <p:pic>
        <p:nvPicPr>
          <p:cNvPr id="5" name="Picture 4" descr="ai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9239" y="1325880"/>
            <a:ext cx="3820160" cy="214884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640080" y="3703320"/>
            <a:ext cx="594360" cy="502920"/>
          </a:xfrm>
          <a:prstGeom prst="roundRect">
            <a:avLst/>
          </a:prstGeom>
          <a:solidFill>
            <a:srgbClr val="4366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749039"/>
            <a:ext cx="594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199" y="4370832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2D26"/>
                </a:solidFill>
                <a:latin typeface="Microsoft JhengHei"/>
              </a:rPr>
              <a:t>要求 AI 讀 AGENTS.md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98448" y="3950208"/>
            <a:ext cx="667512" cy="0"/>
          </a:xfrm>
          <a:prstGeom prst="line">
            <a:avLst/>
          </a:prstGeom>
          <a:ln w="19050">
            <a:solidFill>
              <a:srgbClr val="7062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267712" y="3703320"/>
            <a:ext cx="594360" cy="502920"/>
          </a:xfrm>
          <a:prstGeom prst="roundRect">
            <a:avLst/>
          </a:prstGeom>
          <a:solidFill>
            <a:srgbClr val="287E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267712" y="3749039"/>
            <a:ext cx="594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84831" y="4370832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2D26"/>
                </a:solidFill>
                <a:latin typeface="Microsoft JhengHei"/>
              </a:rPr>
              <a:t>用 uv 建環境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3950208"/>
            <a:ext cx="667511" cy="0"/>
          </a:xfrm>
          <a:prstGeom prst="line">
            <a:avLst/>
          </a:prstGeom>
          <a:ln w="19050">
            <a:solidFill>
              <a:srgbClr val="7062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895344" y="3703320"/>
            <a:ext cx="594360" cy="502920"/>
          </a:xfrm>
          <a:prstGeom prst="round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895344" y="3749039"/>
            <a:ext cx="594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4370832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2D26"/>
                </a:solidFill>
                <a:latin typeface="Microsoft JhengHei"/>
              </a:rPr>
              <a:t>整理 CFM56-7B 來源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553712" y="3950208"/>
            <a:ext cx="667512" cy="0"/>
          </a:xfrm>
          <a:prstGeom prst="line">
            <a:avLst/>
          </a:prstGeom>
          <a:ln w="19050">
            <a:solidFill>
              <a:srgbClr val="7062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522976" y="3703320"/>
            <a:ext cx="594360" cy="502920"/>
          </a:xfrm>
          <a:prstGeom prst="roundRect">
            <a:avLst/>
          </a:prstGeom>
          <a:solidFill>
            <a:srgbClr val="795C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522976" y="3749039"/>
            <a:ext cx="594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40096" y="4370832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2D26"/>
                </a:solidFill>
                <a:latin typeface="Microsoft JhengHei"/>
              </a:rPr>
              <a:t>跑 pyCycle 範例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181344" y="3950208"/>
            <a:ext cx="667512" cy="0"/>
          </a:xfrm>
          <a:prstGeom prst="line">
            <a:avLst/>
          </a:prstGeom>
          <a:ln w="19050">
            <a:solidFill>
              <a:srgbClr val="7062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/>
          <p:cNvSpPr/>
          <p:nvPr/>
        </p:nvSpPr>
        <p:spPr>
          <a:xfrm>
            <a:off x="7150608" y="3703320"/>
            <a:ext cx="594360" cy="502920"/>
          </a:xfrm>
          <a:prstGeom prst="roundRect">
            <a:avLst/>
          </a:prstGeom>
          <a:solidFill>
            <a:srgbClr val="5B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150608" y="3749039"/>
            <a:ext cx="594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67728" y="4370832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2D26"/>
                </a:solidFill>
                <a:latin typeface="Microsoft JhengHei"/>
              </a:rPr>
              <a:t>解讀 Fn / TSFC / OPR / BPR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808976" y="3950208"/>
            <a:ext cx="667512" cy="0"/>
          </a:xfrm>
          <a:prstGeom prst="line">
            <a:avLst/>
          </a:prstGeom>
          <a:ln w="19050">
            <a:solidFill>
              <a:srgbClr val="7062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778240" y="3703320"/>
            <a:ext cx="594360" cy="502920"/>
          </a:xfrm>
          <a:prstGeom prst="roundRect">
            <a:avLst/>
          </a:prstGeom>
          <a:solidFill>
            <a:srgbClr val="A652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778240" y="3749039"/>
            <a:ext cx="594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4370832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2D26"/>
                </a:solidFill>
                <a:latin typeface="Microsoft JhengHei"/>
              </a:rPr>
              <a:t>開 PySide6 UI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36608" y="3950208"/>
            <a:ext cx="667511" cy="0"/>
          </a:xfrm>
          <a:prstGeom prst="line">
            <a:avLst/>
          </a:prstGeom>
          <a:ln w="19050">
            <a:solidFill>
              <a:srgbClr val="70625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10405872" y="3703320"/>
            <a:ext cx="594360" cy="502920"/>
          </a:xfrm>
          <a:prstGeom prst="roundRect">
            <a:avLst/>
          </a:prstGeom>
          <a:solidFill>
            <a:srgbClr val="C28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0405872" y="3749039"/>
            <a:ext cx="594360" cy="484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Microsoft JhengHei"/>
              </a:rPr>
              <a:t>07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222992" y="4370832"/>
            <a:ext cx="13258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352D26"/>
                </a:solidFill>
                <a:latin typeface="Microsoft JhengHei"/>
              </a:rPr>
              <a:t>輸出中英文報告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960120" y="5532120"/>
            <a:ext cx="10058400" cy="960120"/>
          </a:xfrm>
          <a:prstGeom prst="roundRect">
            <a:avLst/>
          </a:prstGeom>
          <a:solidFill>
            <a:srgbClr val="FFF9EF"/>
          </a:solidFill>
          <a:ln>
            <a:solidFill>
              <a:srgbClr val="795C9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1124712" y="5641848"/>
            <a:ext cx="972921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795C91"/>
                </a:solidFill>
                <a:latin typeface="Microsoft JhengHei"/>
              </a:rPr>
              <a:t>總結提示詞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24712" y="6035040"/>
            <a:ext cx="9729216" cy="91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dirty="0" err="1">
                <a:solidFill>
                  <a:srgbClr val="302720"/>
                </a:solidFill>
                <a:latin typeface="Microsoft JhengHei"/>
              </a:rPr>
              <a:t>請回顧今天所有步驟，產生一份學習紀錄：包含使用過的提示詞、成功命令、失敗與修正、目前模型能輸出的</a:t>
            </a:r>
            <a:r>
              <a:rPr sz="1250" b="0" dirty="0">
                <a:solidFill>
                  <a:srgbClr val="302720"/>
                </a:solidFill>
                <a:latin typeface="Microsoft JhengHei"/>
              </a:rPr>
              <a:t> </a:t>
            </a:r>
            <a:r>
              <a:rPr sz="1250" b="0" dirty="0" err="1">
                <a:solidFill>
                  <a:srgbClr val="302720"/>
                </a:solidFill>
                <a:latin typeface="Microsoft JhengHei"/>
              </a:rPr>
              <a:t>pyCycle</a:t>
            </a:r>
            <a:r>
              <a:rPr sz="1250" b="0" dirty="0">
                <a:solidFill>
                  <a:srgbClr val="302720"/>
                </a:solidFill>
                <a:latin typeface="Microsoft JhengHei"/>
              </a:rPr>
              <a:t> </a:t>
            </a:r>
            <a:r>
              <a:rPr sz="1250" b="0" dirty="0" err="1">
                <a:solidFill>
                  <a:srgbClr val="302720"/>
                </a:solidFill>
                <a:latin typeface="Microsoft JhengHei"/>
              </a:rPr>
              <a:t>資訊、下一週要做的</a:t>
            </a:r>
            <a:r>
              <a:rPr sz="1250" b="0" dirty="0">
                <a:solidFill>
                  <a:srgbClr val="302720"/>
                </a:solidFill>
                <a:latin typeface="Microsoft JhengHei"/>
              </a:rPr>
              <a:t> UI </a:t>
            </a:r>
            <a:r>
              <a:rPr sz="1250" b="0" dirty="0" err="1">
                <a:solidFill>
                  <a:srgbClr val="302720"/>
                </a:solidFill>
                <a:latin typeface="Microsoft JhengHei"/>
              </a:rPr>
              <a:t>功能</a:t>
            </a:r>
            <a:r>
              <a:rPr sz="1250" b="0" dirty="0">
                <a:solidFill>
                  <a:srgbClr val="302720"/>
                </a:solidFill>
                <a:latin typeface="Microsoft JhengHei"/>
              </a:rPr>
              <a:t>。</a:t>
            </a:r>
          </a:p>
        </p:txBody>
      </p:sp>
      <p:sp>
        <p:nvSpPr>
          <p:cNvPr id="36" name="Oval 35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檔案結構建議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後續實作時維持 wrapper / upstream 分離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77240" y="1234440"/>
          <a:ext cx="10469879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26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r>
                        <a:rPr sz="1220" b="1">
                          <a:solidFill>
                            <a:srgbClr val="FFFFFF"/>
                          </a:solidFill>
                          <a:latin typeface="Microsoft JhengHei"/>
                        </a:rPr>
                        <a:t>路徑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1">
                          <a:solidFill>
                            <a:srgbClr val="FFFFFF"/>
                          </a:solidFill>
                          <a:latin typeface="Microsoft JhengHei"/>
                        </a:rPr>
                        <a:t>用途</a:t>
                      </a:r>
                    </a:p>
                  </a:txBody>
                  <a:tcPr>
                    <a:solidFill>
                      <a:srgbClr val="4A302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Reference_sources/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來源、URL、PDF、擷取欄位、下載狀態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src/pycycle_edu/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wrapper 模型、資料轉換、報告產生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src/pycycle_edu_ui/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PySide6 視窗、worker、結果表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results/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pyCycle 執行輸出、CSV、圖表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reports/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正體中文與英文報告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upstream/pyCycle/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唯讀參考，不修改</a:t>
                      </a:r>
                    </a:p>
                  </a:txBody>
                  <a:tcPr>
                    <a:solidFill>
                      <a:srgbClr val="F9F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docs/dev-log/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20" b="0">
                          <a:solidFill>
                            <a:srgbClr val="352D26"/>
                          </a:solidFill>
                          <a:latin typeface="Microsoft JhengHei"/>
                        </a:rPr>
                        <a:t>每次 meaningful task 的紀錄</a:t>
                      </a:r>
                    </a:p>
                  </a:txBody>
                  <a:tcPr>
                    <a:solidFill>
                      <a:srgbClr val="FFF9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Oval 5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教師提醒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讓學生知道 AI 很會做事，但要被清楚管理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3291840" cy="420624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60120" y="1463039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87E74"/>
                </a:solidFill>
                <a:latin typeface="Microsoft JhengHei"/>
              </a:rPr>
              <a:t>工程倫理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947672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公開資料不等於可隨意宣稱精準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模型假設要寫清楚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報告需要引用來源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325880"/>
            <a:ext cx="3291840" cy="420624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617720" y="1463039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36697"/>
                </a:solidFill>
                <a:latin typeface="Microsoft JhengHei"/>
              </a:rPr>
              <a:t>軟體習慣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947672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每次先讀規則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用 uv 重現環境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錯誤要有紀錄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不要改 upstream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325880"/>
            <a:ext cx="3291840" cy="420624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75319" y="1463039"/>
            <a:ext cx="2926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D36"/>
                </a:solidFill>
                <a:latin typeface="Microsoft JhengHei"/>
              </a:rPr>
              <a:t>AI 使用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1947672"/>
            <a:ext cx="2880360" cy="3456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提示詞要具體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要求 AI 給驗證證據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把大型任務拆階段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保留失敗案例</a:t>
            </a:r>
          </a:p>
        </p:txBody>
      </p:sp>
      <p:sp>
        <p:nvSpPr>
          <p:cNvPr id="14" name="Oval 13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EEE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146304"/>
            <a:ext cx="111556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900" b="1">
                <a:solidFill>
                  <a:srgbClr val="4A3026"/>
                </a:solidFill>
                <a:latin typeface="Microsoft JhengHei"/>
              </a:rPr>
              <a:t>下一步：從 PPT 到可執行教材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804672"/>
            <a:ext cx="1188720" cy="45720"/>
          </a:xfrm>
          <a:prstGeom prst="rect">
            <a:avLst/>
          </a:prstGeom>
          <a:solidFill>
            <a:srgbClr val="B85D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905256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706254"/>
                </a:solidFill>
                <a:latin typeface="Microsoft JhengHei"/>
              </a:rPr>
              <a:t>本投影片是規劃與教學腳本，下一階段才進入程式實作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280160"/>
            <a:ext cx="10652760" cy="1828800"/>
          </a:xfrm>
          <a:prstGeom prst="roundRect">
            <a:avLst/>
          </a:prstGeom>
          <a:solidFill>
            <a:srgbClr val="FFF9EF"/>
          </a:solidFill>
          <a:ln>
            <a:solidFill>
              <a:srgbClr val="287E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41832" y="1389888"/>
            <a:ext cx="103235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287E74"/>
                </a:solidFill>
                <a:latin typeface="Microsoft JhengHei"/>
              </a:rPr>
              <a:t>下一階段給 AI 的提示詞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1832" y="1783080"/>
            <a:ext cx="10323576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>
                <a:solidFill>
                  <a:srgbClr val="302720"/>
                </a:solidFill>
                <a:latin typeface="Microsoft JhengHei"/>
              </a:rPr>
              <a:t>請根據 docs/slides/pycycle_ai_prompting_course.pptx，建立第一版可執行教材。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範圍：uv 專案設定、pyCycle wrapper、PySide6 最小 UI、Markdown 報告輸出。</a:t>
            </a:r>
            <a:br/>
            <a:r>
              <a:rPr sz="1250" b="0">
                <a:solidFill>
                  <a:srgbClr val="302720"/>
                </a:solidFill>
                <a:latin typeface="Microsoft JhengHei"/>
              </a:rPr>
              <a:t>限制：不要修改 upstream/pyCycle；修改任何既有 symbol 前先做 GitNexus impact analysis；每階段更新 docs/dev-log。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703320"/>
            <a:ext cx="3246120" cy="150876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051560" y="384048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36697"/>
                </a:solidFill>
                <a:latin typeface="Microsoft JhengHei"/>
              </a:rPr>
              <a:t>第一個可執行里程碑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4325112"/>
            <a:ext cx="283463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uv sync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跑 high_bypass_turbofan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輸出 results/hbtf_summary.csv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26280" y="3703320"/>
            <a:ext cx="3246120" cy="150876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709160" y="384048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B85D36"/>
                </a:solidFill>
                <a:latin typeface="Microsoft JhengHei"/>
              </a:rPr>
              <a:t>第二個里程碑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325112"/>
            <a:ext cx="283463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PySide6 表單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Run 按鈕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結果表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83879" y="3703320"/>
            <a:ext cx="3246120" cy="1508760"/>
          </a:xfrm>
          <a:prstGeom prst="roundRect">
            <a:avLst/>
          </a:prstGeom>
          <a:solidFill>
            <a:srgbClr val="FFF9EF"/>
          </a:solidFill>
          <a:ln>
            <a:solidFill>
              <a:srgbClr val="DACA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366759" y="3840480"/>
            <a:ext cx="2880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5B8A5B"/>
                </a:solidFill>
                <a:latin typeface="Microsoft JhengHei"/>
              </a:rPr>
              <a:t>第三個里程碑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4325112"/>
            <a:ext cx="2834639" cy="7589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20" b="0">
                <a:solidFill>
                  <a:srgbClr val="352D26"/>
                </a:solidFill>
                <a:latin typeface="Microsoft JhengHei"/>
              </a:rPr>
              <a:t>• 中文報告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英文報告</a:t>
            </a:r>
            <a:br/>
            <a:r>
              <a:rPr sz="1420" b="0">
                <a:solidFill>
                  <a:srgbClr val="352D26"/>
                </a:solidFill>
                <a:latin typeface="Microsoft JhengHei"/>
              </a:rPr>
              <a:t>• 來源引用</a:t>
            </a:r>
          </a:p>
        </p:txBody>
      </p:sp>
      <p:sp>
        <p:nvSpPr>
          <p:cNvPr id="17" name="Oval 16"/>
          <p:cNvSpPr/>
          <p:nvPr/>
        </p:nvSpPr>
        <p:spPr>
          <a:xfrm>
            <a:off x="10058400" y="10972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10259568" y="210311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10460736" y="310896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10661904" y="411480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10863072" y="512064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11064240" y="612648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11265408" y="713232"/>
            <a:ext cx="109728" cy="109728"/>
          </a:xfrm>
          <a:prstGeom prst="ellipse">
            <a:avLst/>
          </a:prstGeom>
          <a:solidFill>
            <a:srgbClr val="E7D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492240"/>
            <a:ext cx="6217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706254"/>
                </a:solidFill>
                <a:latin typeface="Microsoft JhengHei"/>
              </a:rPr>
              <a:t>pyCycle + AI Prompting + uv + PySide6 教學規劃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228832" y="6492240"/>
            <a:ext cx="502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706254"/>
                </a:solidFill>
                <a:latin typeface="Microsoft JhengHe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1788</Words>
  <Application>Microsoft Office PowerPoint</Application>
  <PresentationFormat>寬螢幕</PresentationFormat>
  <Paragraphs>309</Paragraphs>
  <Slides>21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25" baseType="lpstr">
      <vt:lpstr>Microsoft JhengHei</vt:lpstr>
      <vt:lpstr>Arial</vt:lpstr>
      <vt:lpstr>Calibri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林上智 Lin, Shang-Chih</cp:lastModifiedBy>
  <cp:revision>3</cp:revision>
  <dcterms:created xsi:type="dcterms:W3CDTF">2013-01-27T09:14:16Z</dcterms:created>
  <dcterms:modified xsi:type="dcterms:W3CDTF">2026-05-11T07:07:04Z</dcterms:modified>
  <cp:category/>
</cp:coreProperties>
</file>
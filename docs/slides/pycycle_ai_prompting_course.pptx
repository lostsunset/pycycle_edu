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A3026"/>
                </a:solidFill>
                <a:latin typeface="Microsoft JhengHei"/>
              </a:rPr>
              <a:t>用 AI 提示詞、uv、pyCycle 與 PySide6 建立渦扇引擎教學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27632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706254"/>
                </a:solidFill>
                <a:latin typeface="Microsoft JhengHei"/>
              </a:rPr>
              <a:t>以 CFM56-7B 等級高旁通比渦扇為案例，從資料治理、模型驗證到中英文報告產出</a:t>
            </a:r>
          </a:p>
        </p:txBody>
      </p:sp>
      <p:pic>
        <p:nvPicPr>
          <p:cNvPr id="4" name="Picture 3" descr="turbofan_cuta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687" y="2423160"/>
            <a:ext cx="6746240" cy="37947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49640" y="777240"/>
            <a:ext cx="2834640" cy="4937760"/>
          </a:xfrm>
          <a:prstGeom prst="roundRect">
            <a:avLst/>
          </a:prstGeom>
          <a:solidFill>
            <a:srgbClr val="FFF9EF"/>
          </a:solidFill>
          <a:ln>
            <a:solidFill>
              <a:srgbClr val="B85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4232" y="886968"/>
            <a:ext cx="25054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85D36"/>
                </a:solidFill>
                <a:latin typeface="Microsoft JhengHei"/>
              </a:rPr>
              <a:t>本課核心任務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1280160"/>
            <a:ext cx="2505456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02720"/>
                </a:solidFill>
                <a:latin typeface="Microsoft JhengHei"/>
              </a:rPr>
              <a:t>學生要學會：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1. 用清楚提示詞指揮 AI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2. 用 uv 管理 .venv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3. 不修改 upstream/pyCycle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4. 建立 PySide6 UI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5. 產出正體中文與英文工程報告</a:t>
            </a:r>
          </a:p>
        </p:txBody>
      </p:sp>
      <p:sp>
        <p:nvSpPr>
          <p:cNvPr id="8" name="Oval 7"/>
          <p:cNvSpPr/>
          <p:nvPr/>
        </p:nvSpPr>
        <p:spPr>
          <a:xfrm>
            <a:off x="10058400" y="10972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59568" y="210311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460736" y="310896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661904" y="411480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863072" y="512064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64240" y="61264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265408" y="713232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49224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254"/>
                </a:solidFill>
                <a:latin typeface="Microsoft JhengHei"/>
              </a:rPr>
              <a:t>pyCycle + AI Prompting + uv + PySide6 教學規劃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28832" y="64922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254"/>
                </a:solidFill>
                <a:latin typeface="Microsoft Jheng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4A3026"/>
                </a:solidFill>
                <a:latin typeface="Microsoft JhengHei"/>
              </a:rPr>
              <a:t>課程地圖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88720" cy="45720"/>
          </a:xfrm>
          <a:prstGeom prst="rect">
            <a:avLst/>
          </a:prstGeom>
          <a:solidFill>
            <a:srgbClr val="B85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0525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06254"/>
                </a:solidFill>
                <a:latin typeface="Microsoft JhengHei"/>
              </a:rPr>
              <a:t>六個階段，每階段都有可複製提示詞與驗證產出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" cy="502920"/>
          </a:xfrm>
          <a:prstGeom prst="roundRect">
            <a:avLst/>
          </a:prstGeom>
          <a:solidFill>
            <a:srgbClr val="436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029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389888"/>
            <a:ext cx="2926080" cy="1325880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52704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36697"/>
                </a:solidFill>
                <a:latin typeface="Microsoft JhengHei"/>
              </a:rPr>
              <a:t>提示詞與規則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011680"/>
            <a:ext cx="2514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>
                <a:solidFill>
                  <a:srgbClr val="352D26"/>
                </a:solidFill>
                <a:latin typeface="Microsoft JhengHei"/>
              </a:rPr>
              <a:t>• 讀 AGENTS.md、建立 AI 工作邊界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463040"/>
            <a:ext cx="502920" cy="502920"/>
          </a:xfrm>
          <a:prstGeom prst="roundRect">
            <a:avLst/>
          </a:prstGeom>
          <a:solidFill>
            <a:srgbClr val="287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508760"/>
            <a:ext cx="5029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1389888"/>
            <a:ext cx="2926080" cy="1325880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0" y="152704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7E74"/>
                </a:solidFill>
                <a:latin typeface="Microsoft JhengHei"/>
              </a:rPr>
              <a:t>uv 環境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011680"/>
            <a:ext cx="2514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>
                <a:solidFill>
                  <a:srgbClr val="352D26"/>
                </a:solidFill>
                <a:latin typeface="Microsoft JhengHei"/>
              </a:rPr>
              <a:t>• 建立 .venv、安裝 pyCycle / PySide6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463040"/>
            <a:ext cx="502920" cy="502920"/>
          </a:xfrm>
          <a:prstGeom prst="roundRect">
            <a:avLst/>
          </a:prstGeom>
          <a:solidFill>
            <a:srgbClr val="B85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508760"/>
            <a:ext cx="5029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389888"/>
            <a:ext cx="2926080" cy="1325880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52704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5D36"/>
                </a:solidFill>
                <a:latin typeface="Microsoft JhengHei"/>
              </a:rPr>
              <a:t>參考資料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2011680"/>
            <a:ext cx="2514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>
                <a:solidFill>
                  <a:srgbClr val="352D26"/>
                </a:solidFill>
                <a:latin typeface="Microsoft JhengHei"/>
              </a:rPr>
              <a:t>• CFM56-7B 來源存入 Reference_sources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520440"/>
            <a:ext cx="502920" cy="502920"/>
          </a:xfrm>
          <a:prstGeom prst="roundRect">
            <a:avLst/>
          </a:prstGeom>
          <a:solidFill>
            <a:srgbClr val="79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566160"/>
            <a:ext cx="5029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3447288"/>
            <a:ext cx="2926080" cy="1325880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358444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95C91"/>
                </a:solidFill>
                <a:latin typeface="Microsoft JhengHei"/>
              </a:rPr>
              <a:t>pyCycle 驗證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069080"/>
            <a:ext cx="2514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>
                <a:solidFill>
                  <a:srgbClr val="352D26"/>
                </a:solidFill>
                <a:latin typeface="Microsoft JhengHei"/>
              </a:rPr>
              <a:t>• 跑 high_bypass_turbofan 範例並讀輸出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26280" y="3520440"/>
            <a:ext cx="502920" cy="502920"/>
          </a:xfrm>
          <a:prstGeom prst="roundRect">
            <a:avLst/>
          </a:prstGeom>
          <a:solidFill>
            <a:srgbClr val="5B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3566160"/>
            <a:ext cx="5029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66360" y="3447288"/>
            <a:ext cx="2926080" cy="1325880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49240" y="358444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B8A5B"/>
                </a:solidFill>
                <a:latin typeface="Microsoft JhengHei"/>
              </a:rPr>
              <a:t>PySide6 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4069080"/>
            <a:ext cx="2514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>
                <a:solidFill>
                  <a:srgbClr val="352D26"/>
                </a:solidFill>
                <a:latin typeface="Microsoft JhengHei"/>
              </a:rPr>
              <a:t>• 建立輸入面板、結果表、報告按鈕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3520440"/>
            <a:ext cx="502920" cy="502920"/>
          </a:xfrm>
          <a:prstGeom prst="roundRect">
            <a:avLst/>
          </a:prstGeom>
          <a:solidFill>
            <a:srgbClr val="A65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3566160"/>
            <a:ext cx="5029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61120" y="3447288"/>
            <a:ext cx="2926080" cy="1325880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0" y="358444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A65246"/>
                </a:solidFill>
                <a:latin typeface="Microsoft JhengHei"/>
              </a:rPr>
              <a:t>報告與延伸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4069080"/>
            <a:ext cx="2514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>
                <a:solidFill>
                  <a:srgbClr val="352D26"/>
                </a:solidFill>
                <a:latin typeface="Microsoft JhengHei"/>
              </a:rPr>
              <a:t>• 正體中文/英文報告、參數掃描、GasTurb 對照</a:t>
            </a:r>
          </a:p>
        </p:txBody>
      </p:sp>
      <p:sp>
        <p:nvSpPr>
          <p:cNvPr id="35" name="Oval 34"/>
          <p:cNvSpPr/>
          <p:nvPr/>
        </p:nvSpPr>
        <p:spPr>
          <a:xfrm>
            <a:off x="10058400" y="10972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59568" y="210311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460736" y="310896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661904" y="411480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863072" y="512064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064240" y="61264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265408" y="713232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49224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254"/>
                </a:solidFill>
                <a:latin typeface="Microsoft JhengHei"/>
              </a:rPr>
              <a:t>pyCycle + AI Prompting + uv + PySide6 教學規劃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28832" y="64922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254"/>
                </a:solidFill>
                <a:latin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4A3026"/>
                </a:solidFill>
                <a:latin typeface="Microsoft JhengHei"/>
              </a:rPr>
              <a:t>AI 提示詞設計原則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88720" cy="45720"/>
          </a:xfrm>
          <a:prstGeom prst="rect">
            <a:avLst/>
          </a:prstGeom>
          <a:solidFill>
            <a:srgbClr val="B85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0525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06254"/>
                </a:solidFill>
                <a:latin typeface="Microsoft JhengHei"/>
              </a:rPr>
              <a:t>先規則、再目標、再限制、再驗證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349240" cy="4526280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7E74"/>
                </a:solidFill>
                <a:latin typeface="Microsoft JhengHei"/>
              </a:rPr>
              <a:t>好提示詞包含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39112"/>
            <a:ext cx="4937759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>
                <a:solidFill>
                  <a:srgbClr val="352D26"/>
                </a:solidFill>
                <a:latin typeface="Microsoft JhengHei"/>
              </a:rPr>
              <a:t>• 角色：你是嚴謹的教學助教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工作目標：建立 uv + pyCycle + UI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限制：不得修改 upstream/pyCycle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輸出格式：步驟、命令、驗證結果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資料規則：先存 Reference_sources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349240" cy="4526280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A65246"/>
                </a:solidFill>
                <a:latin typeface="Microsoft JhengHei"/>
              </a:rPr>
              <a:t>避免這些寫法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39112"/>
            <a:ext cx="4937759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>
                <a:solidFill>
                  <a:srgbClr val="352D26"/>
                </a:solidFill>
                <a:latin typeface="Microsoft JhengHei"/>
              </a:rPr>
              <a:t>• 只說「幫我做 UI」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沒有指定資料來源與引用方式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沒有要求 AI 先讀 repo 規則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沒有要求驗證命令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把真實引擎數值直接硬塞模型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0" y="10972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59568" y="210311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460736" y="310896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661904" y="411480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863072" y="512064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064240" y="61264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65408" y="713232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254"/>
                </a:solidFill>
                <a:latin typeface="Microsoft JhengHei"/>
              </a:rPr>
              <a:t>pyCycle + AI Prompting + uv + PySide6 教學規劃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28832" y="64922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254"/>
                </a:solidFill>
                <a:latin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4A3026"/>
                </a:solidFill>
                <a:latin typeface="Microsoft JhengHei"/>
              </a:rPr>
              <a:t>階段 0：讓 AI 先遵守專案規則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88720" cy="45720"/>
          </a:xfrm>
          <a:prstGeom prst="rect">
            <a:avLst/>
          </a:prstGeom>
          <a:solidFill>
            <a:srgbClr val="B85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0525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06254"/>
                </a:solidFill>
                <a:latin typeface="Microsoft JhengHei"/>
              </a:rPr>
              <a:t>這張可直接給學生當第一個練習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520440" cy="4480560"/>
          </a:xfrm>
          <a:prstGeom prst="roundRect">
            <a:avLst/>
          </a:prstGeom>
          <a:solidFill>
            <a:srgbClr val="FFF9EF"/>
          </a:solidFill>
          <a:ln>
            <a:solidFill>
              <a:srgbClr val="28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435607"/>
            <a:ext cx="31912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7E74"/>
                </a:solidFill>
                <a:latin typeface="Microsoft JhengHei"/>
              </a:rPr>
              <a:t>啟動專案提示詞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28800"/>
            <a:ext cx="3191256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02720"/>
                </a:solidFill>
                <a:latin typeface="Microsoft JhengHei"/>
              </a:rPr>
              <a:t>請先閱讀 D:\45_pyCycle_edu\AGENTS.md 與 docs/dev-log/README.md。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任務：規劃 pyCycle 教學專案。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限制：不要修改 upstream/pyCycle；任何資料來源先記錄到 Reference_sources。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輸出：請列出你會建立的檔案、驗證命令、風險。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325880"/>
            <a:ext cx="3520440" cy="4480560"/>
          </a:xfrm>
          <a:prstGeom prst="roundRect">
            <a:avLst/>
          </a:prstGeom>
          <a:solidFill>
            <a:srgbClr val="FFF9EF"/>
          </a:solidFill>
          <a:ln>
            <a:solidFill>
              <a:srgbClr val="436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1435607"/>
            <a:ext cx="31912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36697"/>
                </a:solidFill>
                <a:latin typeface="Microsoft JhengHei"/>
              </a:rPr>
              <a:t>要求 AI 先查規則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1828800"/>
            <a:ext cx="3191256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02720"/>
                </a:solidFill>
                <a:latin typeface="Microsoft JhengHei"/>
              </a:rPr>
              <a:t>在分析或修改之前，請從 repo 根目錄執行：npx gitnexus analyze --embeddings。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完成後摘要 GitNexus 結果，並說明哪些檔案可以改、哪些只能讀。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325880"/>
            <a:ext cx="3520440" cy="4480560"/>
          </a:xfrm>
          <a:prstGeom prst="roundRect">
            <a:avLst/>
          </a:prstGeom>
          <a:solidFill>
            <a:srgbClr val="FFF9EF"/>
          </a:solidFill>
          <a:ln>
            <a:solidFill>
              <a:srgbClr val="B85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9912" y="1435607"/>
            <a:ext cx="31912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85D36"/>
                </a:solidFill>
                <a:latin typeface="Microsoft JhengHei"/>
              </a:rPr>
              <a:t>要求 AI 回報證據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9912" y="1828800"/>
            <a:ext cx="3191256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02720"/>
                </a:solidFill>
                <a:latin typeface="Microsoft JhengHei"/>
              </a:rPr>
              <a:t>每完成一階段，請列出：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1. 實際執行命令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2. 產生或修改的檔案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3. 驗證結果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4. 下一步風險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0" y="10972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259568" y="210311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60736" y="310896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61904" y="411480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63072" y="512064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064240" y="61264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265408" y="713232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49224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254"/>
                </a:solidFill>
                <a:latin typeface="Microsoft JhengHei"/>
              </a:rPr>
              <a:t>pyCycle + AI Prompting + uv + PySide6 教學規劃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28832" y="64922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254"/>
                </a:solidFill>
                <a:latin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4A3026"/>
                </a:solidFill>
                <a:latin typeface="Microsoft JhengHei"/>
              </a:rPr>
              <a:t>階段 1：用 uv 管理 .venv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88720" cy="45720"/>
          </a:xfrm>
          <a:prstGeom prst="rect">
            <a:avLst/>
          </a:prstGeom>
          <a:solidFill>
            <a:srgbClr val="B85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0525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06254"/>
                </a:solidFill>
                <a:latin typeface="Microsoft JhengHei"/>
              </a:rPr>
              <a:t>把環境管理變成可重現的提示詞任務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257800" cy="4754880"/>
          </a:xfrm>
          <a:prstGeom prst="roundRect">
            <a:avLst/>
          </a:prstGeom>
          <a:solidFill>
            <a:srgbClr val="FFF9EF"/>
          </a:solidFill>
          <a:ln>
            <a:solidFill>
              <a:srgbClr val="28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344168"/>
            <a:ext cx="4928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7E74"/>
                </a:solidFill>
                <a:latin typeface="Microsoft JhengHei"/>
              </a:rPr>
              <a:t>學生提示詞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737360"/>
            <a:ext cx="4928616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02720"/>
                </a:solidFill>
                <a:latin typeface="Microsoft JhengHei"/>
              </a:rPr>
              <a:t>請在 D:\45_pyCycle_edu 建立 uv 管理的 Python 環境。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需求：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- 建立 .venv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- 安裝 om-pycycle、openmdao、pyside6、matplotlib、pandas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- 產生 pyproject.toml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- 用 uv run 驗證 import pycycle 與 import PySide6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請先列命令，再執行，最後摘要結果。</a:t>
            </a:r>
          </a:p>
        </p:txBody>
      </p:sp>
      <p:pic>
        <p:nvPicPr>
          <p:cNvPr id="8" name="Picture 7" descr="uv_environ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35881"/>
            <a:ext cx="5166360" cy="290607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09360" y="4526280"/>
            <a:ext cx="4983480" cy="1143000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4663440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5D36"/>
                </a:solidFill>
                <a:latin typeface="Microsoft JhengHei"/>
              </a:rPr>
              <a:t>驗證重點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5148072"/>
            <a:ext cx="4572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>
                <a:solidFill>
                  <a:srgbClr val="352D26"/>
                </a:solidFill>
                <a:latin typeface="Microsoft JhengHei"/>
              </a:rPr>
              <a:t>• 不能用全域 Python 冒充 .venv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若套件衝突，請 AI 解釋版本原因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0" y="10972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259568" y="210311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460736" y="310896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661904" y="411480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863072" y="512064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064240" y="61264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265408" y="713232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254"/>
                </a:solidFill>
                <a:latin typeface="Microsoft JhengHei"/>
              </a:rPr>
              <a:t>pyCycle + AI Prompting + uv + PySide6 教學規劃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28832" y="64922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254"/>
                </a:solidFill>
                <a:latin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4A3026"/>
                </a:solidFill>
                <a:latin typeface="Microsoft JhengHei"/>
              </a:rPr>
              <a:t>階段 2：參考資料治理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88720" cy="45720"/>
          </a:xfrm>
          <a:prstGeom prst="rect">
            <a:avLst/>
          </a:prstGeom>
          <a:solidFill>
            <a:srgbClr val="B85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0525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06254"/>
                </a:solidFill>
                <a:latin typeface="Microsoft JhengHei"/>
              </a:rPr>
              <a:t>CFM56-7B 的資料先存，再拿來驗證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34440"/>
          <a:ext cx="10972799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297680"/>
                <a:gridCol w="3749039"/>
              </a:tblGrid>
              <a:tr h="448056">
                <a:tc>
                  <a:txBody>
                    <a:bodyPr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Microsoft JhengHei"/>
                        </a:rPr>
                        <a:t>資料</a:t>
                      </a:r>
                    </a:p>
                  </a:txBody>
                  <a:tcPr>
                    <a:solidFill>
                      <a:srgbClr val="4A3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Microsoft JhengHei"/>
                        </a:rPr>
                        <a:t>用途</a:t>
                      </a:r>
                    </a:p>
                  </a:txBody>
                  <a:tcPr>
                    <a:solidFill>
                      <a:srgbClr val="4A3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Microsoft JhengHei"/>
                        </a:rPr>
                        <a:t>存放方式</a:t>
                      </a:r>
                    </a:p>
                  </a:txBody>
                  <a:tcPr>
                    <a:solidFill>
                      <a:srgbClr val="4A3026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CFM / Safran 官方頁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發動機系列背景、推力級距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URL + 擷取欄位 + 下載狀態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CFM56-7B specs PDF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BPR、推力、尺寸等交叉檢查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PDF 存 Reference_sources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pyCycle README / paper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模型能力與範例來源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README / PDF 存 Reference_sources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pyCycle high_bypass_turbofan.py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教學模型骨架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只讀 upstream，不修改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source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659600"/>
            <a:ext cx="4251960" cy="239172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257800" y="3794760"/>
            <a:ext cx="6172200" cy="1691640"/>
          </a:xfrm>
          <a:prstGeom prst="roundRect">
            <a:avLst/>
          </a:prstGeom>
          <a:solidFill>
            <a:srgbClr val="FFF9EF"/>
          </a:solidFill>
          <a:ln>
            <a:solidFill>
              <a:srgbClr val="B85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22392" y="3904488"/>
            <a:ext cx="58430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85D36"/>
                </a:solidFill>
                <a:latin typeface="Microsoft JhengHei"/>
              </a:rPr>
              <a:t>資料蒐集提示詞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2392" y="4297680"/>
            <a:ext cx="58430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02720"/>
                </a:solidFill>
                <a:latin typeface="Microsoft JhengHei"/>
              </a:rPr>
              <a:t>請以 CFM56-7B 為主題搜尋官方或可信來源。所有資料先寫入 D:\45_pyCycle_edu\Reference_sources\source_manifest.md。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每筆資料需包含：URL、存取日期、下載狀態、可驗證欄位、是否能直接對照 pyCycle。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0" y="10972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59568" y="210311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460736" y="310896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61904" y="411480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63072" y="512064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64240" y="61264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265408" y="713232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254"/>
                </a:solidFill>
                <a:latin typeface="Microsoft JhengHei"/>
              </a:rPr>
              <a:t>pyCycle + AI Prompting + uv + PySide6 教學規劃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28832" y="64922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254"/>
                </a:solidFill>
                <a:latin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4A3026"/>
                </a:solidFill>
                <a:latin typeface="Microsoft JhengHei"/>
              </a:rPr>
              <a:t>為什麼第一版選 CFM56-7B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88720" cy="45720"/>
          </a:xfrm>
          <a:prstGeom prst="rect">
            <a:avLst/>
          </a:prstGeom>
          <a:solidFill>
            <a:srgbClr val="B85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0525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06254"/>
                </a:solidFill>
                <a:latin typeface="Microsoft JhengHei"/>
              </a:rPr>
              <a:t>主流、資料多、和 pyCycle 高旁通比範例相容</a:t>
            </a:r>
          </a:p>
        </p:txBody>
      </p:sp>
      <p:pic>
        <p:nvPicPr>
          <p:cNvPr id="5" name="Picture 4" descr="turbofan_cuta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9606"/>
            <a:ext cx="5486400" cy="30861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46520" y="1417320"/>
            <a:ext cx="4800600" cy="1325880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1554480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7E74"/>
                </a:solidFill>
                <a:latin typeface="Microsoft JhengHei"/>
              </a:rPr>
              <a:t>教學優點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039112"/>
            <a:ext cx="43891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>
                <a:solidFill>
                  <a:srgbClr val="352D26"/>
                </a:solidFill>
                <a:latin typeface="Microsoft JhengHei"/>
              </a:rPr>
              <a:t>• 737NG 常見，學生容易理解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公開資料多，可練習交叉驗證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2926080"/>
            <a:ext cx="4800600" cy="1325880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3063240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36697"/>
                </a:solidFill>
                <a:latin typeface="Microsoft JhengHei"/>
              </a:rPr>
              <a:t>模型定位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547872"/>
            <a:ext cx="43891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>
                <a:solidFill>
                  <a:srgbClr val="352D26"/>
                </a:solidFill>
                <a:latin typeface="Microsoft JhengHei"/>
              </a:rPr>
              <a:t>• pyCycle 範例是教學骨架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先做趨勢與量級驗證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4434840"/>
            <a:ext cx="4800600" cy="1325880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4572000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5D36"/>
                </a:solidFill>
                <a:latin typeface="Microsoft JhengHei"/>
              </a:rPr>
              <a:t>第一版限制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5056631"/>
            <a:ext cx="43891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>
                <a:solidFill>
                  <a:srgbClr val="352D26"/>
                </a:solidFill>
                <a:latin typeface="Microsoft JhengHei"/>
              </a:rPr>
              <a:t>• 不做完整 GasTurb 複刻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不宣稱精準重現 CFM56-7B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0" y="10972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59568" y="210311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60736" y="310896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61904" y="411480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863072" y="512064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064240" y="61264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65408" y="713232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254"/>
                </a:solidFill>
                <a:latin typeface="Microsoft JhengHei"/>
              </a:rPr>
              <a:t>pyCycle + AI Prompting + uv + PySide6 教學規劃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28832" y="64922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254"/>
                </a:solidFill>
                <a:latin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4A3026"/>
                </a:solidFill>
                <a:latin typeface="Microsoft JhengHei"/>
              </a:rPr>
              <a:t>階段 3：pyCycle 可以得到什麼資訊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88720" cy="45720"/>
          </a:xfrm>
          <a:prstGeom prst="rect">
            <a:avLst/>
          </a:prstGeom>
          <a:solidFill>
            <a:srgbClr val="B85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0525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06254"/>
                </a:solidFill>
                <a:latin typeface="Microsoft JhengHei"/>
              </a:rPr>
              <a:t>從模型輸出轉成學生看得懂的工程報告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20140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572000"/>
                <a:gridCol w="5166360"/>
              </a:tblGrid>
              <a:tr h="600075">
                <a:tc>
                  <a:txBody>
                    <a:bodyPr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Microsoft JhengHei"/>
                        </a:rPr>
                        <a:t>類別</a:t>
                      </a:r>
                    </a:p>
                  </a:txBody>
                  <a:tcPr>
                    <a:solidFill>
                      <a:srgbClr val="4A3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Microsoft JhengHei"/>
                        </a:rPr>
                        <a:t>pyCycle 變數</a:t>
                      </a:r>
                    </a:p>
                  </a:txBody>
                  <a:tcPr>
                    <a:solidFill>
                      <a:srgbClr val="4A3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Microsoft JhengHei"/>
                        </a:rPr>
                        <a:t>可教學意義</a:t>
                      </a:r>
                    </a:p>
                  </a:txBody>
                  <a:tcPr>
                    <a:solidFill>
                      <a:srgbClr val="4A3026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整體性能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Fn, Fg, ram drag, OPR, TSFC, BPR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推力、油耗、旁通比、總壓比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飛行條件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Mach, altitude, dTs, inlet W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不同高度/速度下的工作點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流站資料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Pt, Tt, ht, entropy, Ps, W, MN, V, area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每一站總壓/總溫/質流/面積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壓縮機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Wc, PR, eta, Nc, map line, surge margin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壓縮效率與喘振裕度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燃燒室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TtOut, Wfuel, FAR, pressure loss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燃油流量與燃氣溫度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渦輪/軸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PR, eff, power, torque balance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高低壓軸功率平衡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噴嘴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PR, throat area, MN, V, gross thrust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核心與旁通噴嘴推力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10058400" y="10972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59568" y="210311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60736" y="310896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61904" y="411480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63072" y="512064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064240" y="61264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65408" y="713232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254"/>
                </a:solidFill>
                <a:latin typeface="Microsoft JhengHei"/>
              </a:rPr>
              <a:t>pyCycle + AI Prompting + uv + PySide6 教學規劃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28832" y="64922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254"/>
                </a:solidFill>
                <a:latin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4A3026"/>
                </a:solidFill>
                <a:latin typeface="Microsoft JhengHei"/>
              </a:rPr>
              <a:t>pyCycle 範例切入點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88720" cy="45720"/>
          </a:xfrm>
          <a:prstGeom prst="rect">
            <a:avLst/>
          </a:prstGeom>
          <a:solidFill>
            <a:srgbClr val="B85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0525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06254"/>
                </a:solidFill>
                <a:latin typeface="Microsoft JhengHei"/>
              </a:rPr>
              <a:t>high_bypass_turbofan.py 的課堂閱讀路線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234440"/>
          <a:ext cx="1083564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4480560"/>
                <a:gridCol w="4800600"/>
              </a:tblGrid>
              <a:tr h="667512">
                <a:tc>
                  <a:txBody>
                    <a:bodyPr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Microsoft JhengHei"/>
                        </a:rPr>
                        <a:t>區塊</a:t>
                      </a:r>
                    </a:p>
                  </a:txBody>
                  <a:tcPr>
                    <a:solidFill>
                      <a:srgbClr val="4A3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Microsoft JhengHei"/>
                        </a:rPr>
                        <a:t>程式概念</a:t>
                      </a:r>
                    </a:p>
                  </a:txBody>
                  <a:tcPr>
                    <a:solidFill>
                      <a:srgbClr val="4A3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Microsoft JhengHei"/>
                        </a:rPr>
                        <a:t>教學意義</a:t>
                      </a:r>
                    </a:p>
                  </a:txBody>
                  <a:tcPr>
                    <a:solidFill>
                      <a:srgbClr val="4A3026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Cycle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HBTF(pyc.Cycle)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建立高旁通比渦扇架構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Elements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Inlet, Compressor, Splitter, Combustor, Turbine, Nozzle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每個元件代表一段熱力或流體模型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Balances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W, FAR, lpt_PR, hpt_PR, BPR, spool speed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求解推力、T4、功率平衡與噴嘴面積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Viewer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summary + flow station + component tables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把 OpenMDAO 結果轉成可讀報表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4983480"/>
            <a:ext cx="10515600" cy="1051560"/>
          </a:xfrm>
          <a:prstGeom prst="roundRect">
            <a:avLst/>
          </a:prstGeom>
          <a:solidFill>
            <a:srgbClr val="FFF9EF"/>
          </a:solidFill>
          <a:ln>
            <a:solidFill>
              <a:srgbClr val="28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5093208"/>
            <a:ext cx="101864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7E74"/>
                </a:solidFill>
                <a:latin typeface="Microsoft JhengHei"/>
              </a:rPr>
              <a:t>閱讀提示詞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5486400"/>
            <a:ext cx="10186416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02720"/>
                </a:solidFill>
                <a:latin typeface="Microsoft JhengHei"/>
              </a:rPr>
              <a:t>請閱讀 upstream/pyCycle/example_cycles/high_bypass_turbofan.py，只做摘要，不修改檔案。請用表格說明每個子系統、balance 變數與 viewer 輸出。</a:t>
            </a:r>
          </a:p>
        </p:txBody>
      </p:sp>
      <p:sp>
        <p:nvSpPr>
          <p:cNvPr id="9" name="Oval 8"/>
          <p:cNvSpPr/>
          <p:nvPr/>
        </p:nvSpPr>
        <p:spPr>
          <a:xfrm>
            <a:off x="10058400" y="10972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259568" y="210311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460736" y="310896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61904" y="411480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863072" y="512064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064240" y="61264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65408" y="713232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9224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254"/>
                </a:solidFill>
                <a:latin typeface="Microsoft JhengHei"/>
              </a:rPr>
              <a:t>pyCycle + AI Prompting + uv + PySide6 教學規劃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28832" y="64922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254"/>
                </a:solidFill>
                <a:latin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4A3026"/>
                </a:solidFill>
                <a:latin typeface="Microsoft JhengHei"/>
              </a:rPr>
              <a:t>階段 4：跑範例與驗證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88720" cy="45720"/>
          </a:xfrm>
          <a:prstGeom prst="rect">
            <a:avLst/>
          </a:prstGeom>
          <a:solidFill>
            <a:srgbClr val="B85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0525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06254"/>
                </a:solidFill>
                <a:latin typeface="Microsoft JhengHei"/>
              </a:rPr>
              <a:t>先跑原始範例，再建立 wrapper 腳本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394960" cy="4480560"/>
          </a:xfrm>
          <a:prstGeom prst="roundRect">
            <a:avLst/>
          </a:prstGeom>
          <a:solidFill>
            <a:srgbClr val="FFF9EF"/>
          </a:solidFill>
          <a:ln>
            <a:solidFill>
              <a:srgbClr val="436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344168"/>
            <a:ext cx="50657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36697"/>
                </a:solidFill>
                <a:latin typeface="Microsoft JhengHei"/>
              </a:rPr>
              <a:t>執行提示詞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737360"/>
            <a:ext cx="5065776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02720"/>
                </a:solidFill>
                <a:latin typeface="Microsoft JhengHei"/>
              </a:rPr>
              <a:t>請使用 uv run 執行 pyCycle high_bypass_turbofan 範例。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限制：不要修改 upstream/pyCycle。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請把輸出檔複製到 wrapper 的 results/ 目錄，並摘要 DESIGN 與 OD_part_pwr 的 Fn、TSFC、OPR、BPR、FAR。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若失敗，請先解釋錯誤來源再修正環境。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234440"/>
            <a:ext cx="4937760" cy="1874519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37160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7E74"/>
                </a:solidFill>
                <a:latin typeface="Microsoft JhengHei"/>
              </a:rPr>
              <a:t>驗證命令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856232"/>
            <a:ext cx="452628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>
                <a:solidFill>
                  <a:srgbClr val="352D26"/>
                </a:solidFill>
                <a:latin typeface="Microsoft JhengHei"/>
              </a:rPr>
              <a:t>• uv run python upstream/pyCycle/example_cycles/high_bypass_turbofan.py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檢查 hbtf_view.out 是否產生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比對 Reference_sources 的 BPR/推力量級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3429000"/>
            <a:ext cx="4937760" cy="1965960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356616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5D36"/>
                </a:solidFill>
                <a:latin typeface="Microsoft JhengHei"/>
              </a:rPr>
              <a:t>學生要回答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050791"/>
            <a:ext cx="4526280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>
                <a:solidFill>
                  <a:srgbClr val="352D26"/>
                </a:solidFill>
                <a:latin typeface="Microsoft JhengHei"/>
              </a:rPr>
              <a:t>• 設計點與非設計點差在哪？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為什麼 off-design 要平衡噴嘴面積？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TSFC 的單位與意義是什麼？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哪些結果不能直接宣稱等於 CFM56-7B？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0" y="10972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259568" y="210311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60736" y="310896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61904" y="411480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63072" y="512064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064240" y="61264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265408" y="713232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49224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254"/>
                </a:solidFill>
                <a:latin typeface="Microsoft JhengHei"/>
              </a:rPr>
              <a:t>pyCycle + AI Prompting + uv + PySide6 教學規劃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28832" y="64922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254"/>
                </a:solidFill>
                <a:latin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4A3026"/>
                </a:solidFill>
                <a:latin typeface="Microsoft JhengHei"/>
              </a:rPr>
              <a:t>階段 5：PySide6 UI 功能規劃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88720" cy="45720"/>
          </a:xfrm>
          <a:prstGeom prst="rect">
            <a:avLst/>
          </a:prstGeom>
          <a:solidFill>
            <a:srgbClr val="B85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0525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06254"/>
                </a:solidFill>
                <a:latin typeface="Microsoft JhengHei"/>
              </a:rPr>
              <a:t>先做工程工具，不做華麗展示頁</a:t>
            </a:r>
          </a:p>
        </p:txBody>
      </p:sp>
      <p:pic>
        <p:nvPicPr>
          <p:cNvPr id="5" name="Picture 4" descr="ui_mockup_la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8166"/>
            <a:ext cx="5486400" cy="30861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0" y="1143000"/>
            <a:ext cx="4800600" cy="1444752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280160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36697"/>
                </a:solidFill>
                <a:latin typeface="Microsoft JhengHei"/>
              </a:rPr>
              <a:t>第一版輸入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1764792"/>
            <a:ext cx="43891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>
                <a:solidFill>
                  <a:srgbClr val="352D26"/>
                </a:solidFill>
                <a:latin typeface="Microsoft JhengHei"/>
              </a:rPr>
              <a:t>• Mach、altitude、dTs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Fn target、BPR、T4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設計點/非設計點選擇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743200"/>
            <a:ext cx="4800600" cy="1444752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2880360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7E74"/>
                </a:solidFill>
                <a:latin typeface="Microsoft JhengHei"/>
              </a:rPr>
              <a:t>第一版輸出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3364992"/>
            <a:ext cx="43891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>
                <a:solidFill>
                  <a:srgbClr val="352D26"/>
                </a:solidFill>
                <a:latin typeface="Microsoft JhengHei"/>
              </a:rPr>
              <a:t>• 性能摘要表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流站與元件表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收斂狀態與警告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4343400"/>
            <a:ext cx="4800600" cy="1444752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4480560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5D36"/>
                </a:solidFill>
                <a:latin typeface="Microsoft JhengHei"/>
              </a:rPr>
              <a:t>第一版報告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4965192"/>
            <a:ext cx="43891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>
                <a:solidFill>
                  <a:srgbClr val="352D26"/>
                </a:solidFill>
                <a:latin typeface="Microsoft JhengHei"/>
              </a:rPr>
              <a:t>• 正體中文報告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English report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引用來源與參數表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0" y="10972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59568" y="210311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60736" y="310896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61904" y="411480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863072" y="512064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064240" y="61264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65408" y="713232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254"/>
                </a:solidFill>
                <a:latin typeface="Microsoft JhengHei"/>
              </a:rPr>
              <a:t>pyCycle + AI Prompting + uv + PySide6 教學規劃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28832" y="64922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254"/>
                </a:solidFill>
                <a:latin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4A3026"/>
                </a:solidFill>
                <a:latin typeface="Microsoft JhengHei"/>
              </a:rPr>
              <a:t>UI 建置提示詞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88720" cy="45720"/>
          </a:xfrm>
          <a:prstGeom prst="rect">
            <a:avLst/>
          </a:prstGeom>
          <a:solidFill>
            <a:srgbClr val="B85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0525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06254"/>
                </a:solidFill>
                <a:latin typeface="Microsoft JhengHei"/>
              </a:rPr>
              <a:t>要求 AI 先設計資料流，再寫 PySide6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5440680" cy="4800600"/>
          </a:xfrm>
          <a:prstGeom prst="roundRect">
            <a:avLst/>
          </a:prstGeom>
          <a:solidFill>
            <a:srgbClr val="FFF9EF"/>
          </a:solidFill>
          <a:ln>
            <a:solidFill>
              <a:srgbClr val="28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298448"/>
            <a:ext cx="5111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7E74"/>
                </a:solidFill>
                <a:latin typeface="Microsoft JhengHei"/>
              </a:rPr>
              <a:t>介面設計提示詞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691640"/>
            <a:ext cx="511149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02720"/>
                </a:solidFill>
                <a:latin typeface="Microsoft JhengHei"/>
              </a:rPr>
              <a:t>請設計一個 PySide6 UI，用於操作 pyCycle 高旁通比渦扇教學模型。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限制：不要修改 upstream/pyCycle；模型呼叫放在 wrapper 模組。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畫面需包含：輸入表單、Run 按鈕、結果表、收斂訊息、匯出報告按鈕。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請先提出檔案結構與資料流，不要直接寫程式。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188720"/>
            <a:ext cx="5257800" cy="4800600"/>
          </a:xfrm>
          <a:prstGeom prst="roundRect">
            <a:avLst/>
          </a:prstGeom>
          <a:solidFill>
            <a:srgbClr val="FFF9EF"/>
          </a:solidFill>
          <a:ln>
            <a:solidFill>
              <a:srgbClr val="B85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298448"/>
            <a:ext cx="4928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85D36"/>
                </a:solidFill>
                <a:latin typeface="Microsoft JhengHei"/>
              </a:rPr>
              <a:t>實作提示詞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1691640"/>
            <a:ext cx="49286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02720"/>
                </a:solidFill>
                <a:latin typeface="Microsoft JhengHei"/>
              </a:rPr>
              <a:t>根據前一步設計，請建立最小可用 PySide6 應用。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需求：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- 用 QMainWindow + QWidget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- 輸入值有驗證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- 長時間運算不可卡住 UI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- 結果用 QTableWidget 顯示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- 報告輸出為 Markdown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請附上 uv run 啟動命令與測試方式。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0" y="10972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59568" y="210311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460736" y="310896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661904" y="411480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863072" y="512064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064240" y="61264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65408" y="713232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254"/>
                </a:solidFill>
                <a:latin typeface="Microsoft JhengHei"/>
              </a:rPr>
              <a:t>pyCycle + AI Prompting + uv + PySide6 教學規劃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28832" y="64922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254"/>
                </a:solidFill>
                <a:latin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4A3026"/>
                </a:solidFill>
                <a:latin typeface="Microsoft JhengHei"/>
              </a:rPr>
              <a:t>GasTurb 功能趨近路線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88720" cy="45720"/>
          </a:xfrm>
          <a:prstGeom prst="rect">
            <a:avLst/>
          </a:prstGeom>
          <a:solidFill>
            <a:srgbClr val="B85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0525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06254"/>
                </a:solidFill>
                <a:latin typeface="Microsoft JhengHei"/>
              </a:rPr>
              <a:t>不是複刻介面，而是逐步補齊教學所需能力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280160"/>
          <a:ext cx="1083564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194560"/>
                <a:gridCol w="4663440"/>
                <a:gridCol w="3246120"/>
              </a:tblGrid>
              <a:tr h="708660">
                <a:tc>
                  <a:txBody>
                    <a:bodyPr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Microsoft JhengHei"/>
                        </a:rPr>
                        <a:t>階段</a:t>
                      </a:r>
                    </a:p>
                  </a:txBody>
                  <a:tcPr>
                    <a:solidFill>
                      <a:srgbClr val="4A3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Microsoft JhengHei"/>
                        </a:rPr>
                        <a:t>功能</a:t>
                      </a:r>
                    </a:p>
                  </a:txBody>
                  <a:tcPr>
                    <a:solidFill>
                      <a:srgbClr val="4A3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Microsoft JhengHei"/>
                        </a:rPr>
                        <a:t>學生看到的價值</a:t>
                      </a:r>
                    </a:p>
                  </a:txBody>
                  <a:tcPr>
                    <a:solidFill>
                      <a:srgbClr val="4A3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Microsoft JhengHei"/>
                        </a:rPr>
                        <a:t>技術</a:t>
                      </a:r>
                    </a:p>
                  </a:txBody>
                  <a:tcPr>
                    <a:solidFill>
                      <a:srgbClr val="4A3026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1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單一工作點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輸入 Mach/altitude/Fn，輸出性能表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pyCycle example + UI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2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參數掃描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改變 BPR/T4/高度，看 TSFC 與 Fn 趨勢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pandas + matplotlib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3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流程圖視覺化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顯示 inlet/fan/core/bypass/nozzle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PySide6 scene 或簡圖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資料驗證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把來源數值與模型結果並列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Reference_sources manifest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5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報告產生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中文/英文工程摘要與引用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Markdown / PDF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10058400" y="10972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59568" y="210311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60736" y="310896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61904" y="411480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63072" y="512064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064240" y="61264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65408" y="713232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254"/>
                </a:solidFill>
                <a:latin typeface="Microsoft JhengHei"/>
              </a:rPr>
              <a:t>pyCycle + AI Prompting + uv + PySide6 教學規劃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28832" y="64922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254"/>
                </a:solidFill>
                <a:latin typeface="Microsoft Jheng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4A3026"/>
                </a:solidFill>
                <a:latin typeface="Microsoft JhengHei"/>
              </a:rPr>
              <a:t>報告產生：正體中文與英文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88720" cy="45720"/>
          </a:xfrm>
          <a:prstGeom prst="rect">
            <a:avLst/>
          </a:prstGeom>
          <a:solidFill>
            <a:srgbClr val="B85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0525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06254"/>
                </a:solidFill>
                <a:latin typeface="Microsoft JhengHei"/>
              </a:rPr>
              <a:t>同一份模型結果，輸出兩種工程語言</a:t>
            </a:r>
          </a:p>
        </p:txBody>
      </p:sp>
      <p:pic>
        <p:nvPicPr>
          <p:cNvPr id="5" name="Picture 4" descr="report_biling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98448"/>
            <a:ext cx="5120640" cy="2880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26480" y="1234440"/>
            <a:ext cx="5257800" cy="2057400"/>
          </a:xfrm>
          <a:prstGeom prst="roundRect">
            <a:avLst/>
          </a:prstGeom>
          <a:solidFill>
            <a:srgbClr val="FFF9EF"/>
          </a:solidFill>
          <a:ln>
            <a:solidFill>
              <a:srgbClr val="28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91072" y="1344168"/>
            <a:ext cx="4928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7E74"/>
                </a:solidFill>
                <a:latin typeface="Microsoft JhengHei"/>
              </a:rPr>
              <a:t>中文報告提示詞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1072" y="1737360"/>
            <a:ext cx="492861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02720"/>
                </a:solidFill>
                <a:latin typeface="Microsoft JhengHei"/>
              </a:rPr>
              <a:t>請根據 pyCycle 結果產生正體中文工程報告。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章節：摘要、輸入條件、主要結果、與 CFM56-7B 公開資料比較、限制與下一步。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要求：所有數值附單位；引用 Reference_sources/source_manifest.md；不要誇大模型精度。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611880"/>
            <a:ext cx="5257800" cy="2011680"/>
          </a:xfrm>
          <a:prstGeom prst="roundRect">
            <a:avLst/>
          </a:prstGeom>
          <a:solidFill>
            <a:srgbClr val="FFF9EF"/>
          </a:solidFill>
          <a:ln>
            <a:solidFill>
              <a:srgbClr val="436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2" y="3721608"/>
            <a:ext cx="4928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36697"/>
                </a:solidFill>
                <a:latin typeface="Microsoft JhengHei"/>
              </a:rPr>
              <a:t>English report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1072" y="4114800"/>
            <a:ext cx="492861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02720"/>
                </a:solidFill>
                <a:latin typeface="Microsoft JhengHei"/>
              </a:rPr>
              <a:t>Generate an engineering report in English from the pyCycle output.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Sections: Executive Summary, Inputs, Key Results, Comparison Against Public CFM56-7B Data, Model Limitations, Next Steps.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Use units for every value and cite Reference_sources/source_manifest.md.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0" y="10972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259568" y="210311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460736" y="310896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661904" y="411480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863072" y="512064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064240" y="61264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265408" y="713232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254"/>
                </a:solidFill>
                <a:latin typeface="Microsoft JhengHei"/>
              </a:rPr>
              <a:t>pyCycle + AI Prompting + uv + PySide6 教學規劃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28832" y="64922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254"/>
                </a:solidFill>
                <a:latin typeface="Microsoft Jheng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4A3026"/>
                </a:solidFill>
                <a:latin typeface="Microsoft JhengHei"/>
              </a:rPr>
              <a:t>學生作業設計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88720" cy="45720"/>
          </a:xfrm>
          <a:prstGeom prst="rect">
            <a:avLst/>
          </a:prstGeom>
          <a:solidFill>
            <a:srgbClr val="B85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0525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06254"/>
                </a:solidFill>
                <a:latin typeface="Microsoft JhengHei"/>
              </a:rPr>
              <a:t>每一週都有可驗證產出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143000"/>
          <a:ext cx="1069848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291840"/>
                <a:gridCol w="6309360"/>
              </a:tblGrid>
              <a:tr h="672737">
                <a:tc>
                  <a:txBody>
                    <a:bodyPr/>
                    <a:lstStyle/>
                    <a:p>
                      <a:r>
                        <a:rPr sz="1220" b="1">
                          <a:solidFill>
                            <a:srgbClr val="FFFFFF"/>
                          </a:solidFill>
                          <a:latin typeface="Microsoft JhengHei"/>
                        </a:rPr>
                        <a:t>週次</a:t>
                      </a:r>
                    </a:p>
                  </a:txBody>
                  <a:tcPr>
                    <a:solidFill>
                      <a:srgbClr val="4A3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 b="1">
                          <a:solidFill>
                            <a:srgbClr val="FFFFFF"/>
                          </a:solidFill>
                          <a:latin typeface="Microsoft JhengHei"/>
                        </a:rPr>
                        <a:t>主題</a:t>
                      </a:r>
                    </a:p>
                  </a:txBody>
                  <a:tcPr>
                    <a:solidFill>
                      <a:srgbClr val="4A3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 b="1">
                          <a:solidFill>
                            <a:srgbClr val="FFFFFF"/>
                          </a:solidFill>
                          <a:latin typeface="Microsoft JhengHei"/>
                        </a:rPr>
                        <a:t>通過標準</a:t>
                      </a:r>
                    </a:p>
                  </a:txBody>
                  <a:tcPr>
                    <a:solidFill>
                      <a:srgbClr val="4A3026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352D26"/>
                          </a:solidFill>
                          <a:latin typeface="Microsoft JhengHei"/>
                        </a:rPr>
                        <a:t>第 1 週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352D26"/>
                          </a:solidFill>
                          <a:latin typeface="Microsoft JhengHei"/>
                        </a:rPr>
                        <a:t>提示詞與 repo 規則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352D26"/>
                          </a:solidFill>
                          <a:latin typeface="Microsoft JhengHei"/>
                        </a:rPr>
                        <a:t>能讓 AI 正確遵守不改 upstream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352D26"/>
                          </a:solidFill>
                          <a:latin typeface="Microsoft JhengHei"/>
                        </a:rPr>
                        <a:t>第 2 週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352D26"/>
                          </a:solidFill>
                          <a:latin typeface="Microsoft JhengHei"/>
                        </a:rPr>
                        <a:t>uv + pyCycle 範例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352D26"/>
                          </a:solidFill>
                          <a:latin typeface="Microsoft JhengHei"/>
                        </a:rPr>
                        <a:t>能重現 high_bypass_turbofan 輸出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352D26"/>
                          </a:solidFill>
                          <a:latin typeface="Microsoft JhengHei"/>
                        </a:rPr>
                        <a:t>第 3 週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352D26"/>
                          </a:solidFill>
                          <a:latin typeface="Microsoft JhengHei"/>
                        </a:rPr>
                        <a:t>CFM56-7B 資料表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352D26"/>
                          </a:solidFill>
                          <a:latin typeface="Microsoft JhengHei"/>
                        </a:rPr>
                        <a:t>能說明每個來源能驗證什麼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352D26"/>
                          </a:solidFill>
                          <a:latin typeface="Microsoft JhengHei"/>
                        </a:rPr>
                        <a:t>第 4 週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352D26"/>
                          </a:solidFill>
                          <a:latin typeface="Microsoft JhengHei"/>
                        </a:rPr>
                        <a:t>PySide6 最小 UI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352D26"/>
                          </a:solidFill>
                          <a:latin typeface="Microsoft JhengHei"/>
                        </a:rPr>
                        <a:t>能輸入條件並顯示結果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352D26"/>
                          </a:solidFill>
                          <a:latin typeface="Microsoft JhengHei"/>
                        </a:rPr>
                        <a:t>第 5 週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352D26"/>
                          </a:solidFill>
                          <a:latin typeface="Microsoft JhengHei"/>
                        </a:rPr>
                        <a:t>中英文報告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352D26"/>
                          </a:solidFill>
                          <a:latin typeface="Microsoft JhengHei"/>
                        </a:rPr>
                        <a:t>能引用來源並說明限制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</a:tr>
              <a:tr h="672738"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352D26"/>
                          </a:solidFill>
                          <a:latin typeface="Microsoft JhengHei"/>
                        </a:rPr>
                        <a:t>第 6 週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352D26"/>
                          </a:solidFill>
                          <a:latin typeface="Microsoft JhengHei"/>
                        </a:rPr>
                        <a:t>參數掃描展示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352D26"/>
                          </a:solidFill>
                          <a:latin typeface="Microsoft JhengHei"/>
                        </a:rPr>
                        <a:t>能用圖表說明 BPR/T4/高度趨勢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10058400" y="10972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59568" y="210311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60736" y="310896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61904" y="411480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63072" y="512064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064240" y="61264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65408" y="713232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254"/>
                </a:solidFill>
                <a:latin typeface="Microsoft JhengHei"/>
              </a:rPr>
              <a:t>pyCycle + AI Prompting + uv + PySide6 教學規劃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28832" y="64922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254"/>
                </a:solidFill>
                <a:latin typeface="Microsoft Jheng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4A3026"/>
                </a:solidFill>
                <a:latin typeface="Microsoft JhengHei"/>
              </a:rPr>
              <a:t>評分規準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88720" cy="45720"/>
          </a:xfrm>
          <a:prstGeom prst="rect">
            <a:avLst/>
          </a:prstGeom>
          <a:solidFill>
            <a:srgbClr val="B85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0525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06254"/>
                </a:solidFill>
                <a:latin typeface="Microsoft JhengHei"/>
              </a:rPr>
              <a:t>評估 AI 使用能力，不只看程式跑不跑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349240" cy="4526280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36697"/>
                </a:solidFill>
                <a:latin typeface="Microsoft JhengHei"/>
              </a:rPr>
              <a:t>技術面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39112"/>
            <a:ext cx="4937759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>
                <a:solidFill>
                  <a:srgbClr val="352D26"/>
                </a:solidFill>
                <a:latin typeface="Microsoft JhengHei"/>
              </a:rPr>
              <a:t>• uv 環境可重現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pyCycle 結果可解釋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UI 不阻塞且有輸入驗證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報告數值有單位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資料來源可追溯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349240" cy="4526280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5D36"/>
                </a:solidFill>
                <a:latin typeface="Microsoft JhengHei"/>
              </a:rPr>
              <a:t>AI 協作面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39112"/>
            <a:ext cx="4937759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>
                <a:solidFill>
                  <a:srgbClr val="352D26"/>
                </a:solidFill>
                <a:latin typeface="Microsoft JhengHei"/>
              </a:rPr>
              <a:t>• 提示詞清楚且可複製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AI 有先讀規則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錯誤修正有原因分析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沒有未驗證宣稱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有記錄 dev-log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0" y="10972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59568" y="210311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460736" y="310896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661904" y="411480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863072" y="512064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064240" y="61264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65408" y="713232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254"/>
                </a:solidFill>
                <a:latin typeface="Microsoft JhengHei"/>
              </a:rPr>
              <a:t>pyCycle + AI Prompting + uv + PySide6 教學規劃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28832" y="64922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254"/>
                </a:solidFill>
                <a:latin typeface="Microsoft Jheng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4A3026"/>
                </a:solidFill>
                <a:latin typeface="Microsoft JhengHei"/>
              </a:rPr>
              <a:t>常見失敗與修正提示詞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88720" cy="45720"/>
          </a:xfrm>
          <a:prstGeom prst="rect">
            <a:avLst/>
          </a:prstGeom>
          <a:solidFill>
            <a:srgbClr val="B85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0525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06254"/>
                </a:solidFill>
                <a:latin typeface="Microsoft JhengHei"/>
              </a:rPr>
              <a:t>把錯誤當成提示詞改寫訓練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234440"/>
          <a:ext cx="1078992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8686800"/>
              </a:tblGrid>
              <a:tr h="754380">
                <a:tc>
                  <a:txBody>
                    <a:bodyPr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Microsoft JhengHei"/>
                        </a:rPr>
                        <a:t>問題</a:t>
                      </a:r>
                    </a:p>
                  </a:txBody>
                  <a:tcPr>
                    <a:solidFill>
                      <a:srgbClr val="4A3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Microsoft JhengHei"/>
                        </a:rPr>
                        <a:t>修正提示詞</a:t>
                      </a:r>
                    </a:p>
                  </a:txBody>
                  <a:tcPr>
                    <a:solidFill>
                      <a:srgbClr val="4A3026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套件裝不起來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請檢查 pyproject.toml 與 uv lock，說明版本衝突來源，提出最小修正。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pyCycle 不收斂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請不要任意改模型，先列出 balance 變數、初始猜測與可能物理原因。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UI 卡住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請把模型運算移到 worker thread，並讓 UI 顯示 running / failed / completed 狀態。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資料來源混亂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請重新整理 Reference_sources/source_manifest.md，只保留可追溯來源。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報告太像廣告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請改寫為工程報告語氣，列出限制，不要宣稱等同原廠資料。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10058400" y="10972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59568" y="210311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60736" y="310896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61904" y="411480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63072" y="512064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064240" y="61264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65408" y="713232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254"/>
                </a:solidFill>
                <a:latin typeface="Microsoft JhengHei"/>
              </a:rPr>
              <a:t>pyCycle + AI Prompting + uv + PySide6 教學規劃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28832" y="64922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254"/>
                </a:solidFill>
                <a:latin typeface="Microsoft Jheng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4A3026"/>
                </a:solidFill>
                <a:latin typeface="Microsoft JhengHei"/>
              </a:rPr>
              <a:t>課堂 Demo 腳本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88720" cy="45720"/>
          </a:xfrm>
          <a:prstGeom prst="rect">
            <a:avLst/>
          </a:prstGeom>
          <a:solidFill>
            <a:srgbClr val="B85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0525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06254"/>
                </a:solidFill>
                <a:latin typeface="Microsoft JhengHei"/>
              </a:rPr>
              <a:t>老師可以照這張投影片帶一次完整流程</a:t>
            </a:r>
          </a:p>
        </p:txBody>
      </p:sp>
      <p:pic>
        <p:nvPicPr>
          <p:cNvPr id="5" name="Picture 4" descr="ai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239" y="1325880"/>
            <a:ext cx="3820160" cy="2148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3703320"/>
            <a:ext cx="594360" cy="502920"/>
          </a:xfrm>
          <a:prstGeom prst="roundRect">
            <a:avLst/>
          </a:prstGeom>
          <a:solidFill>
            <a:srgbClr val="436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5943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199" y="4370832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52D26"/>
                </a:solidFill>
                <a:latin typeface="Microsoft JhengHei"/>
              </a:rPr>
              <a:t>要求 AI 讀 AGENTS.md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98448" y="3950208"/>
            <a:ext cx="667512" cy="0"/>
          </a:xfrm>
          <a:prstGeom prst="line">
            <a:avLst/>
          </a:prstGeom>
          <a:ln w="19050">
            <a:solidFill>
              <a:srgbClr val="7062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267712" y="3703320"/>
            <a:ext cx="594360" cy="502920"/>
          </a:xfrm>
          <a:prstGeom prst="roundRect">
            <a:avLst/>
          </a:prstGeom>
          <a:solidFill>
            <a:srgbClr val="287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67712" y="3749039"/>
            <a:ext cx="5943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4831" y="4370832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52D26"/>
                </a:solidFill>
                <a:latin typeface="Microsoft JhengHei"/>
              </a:rPr>
              <a:t>用 uv 建環境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26080" y="3950208"/>
            <a:ext cx="667511" cy="0"/>
          </a:xfrm>
          <a:prstGeom prst="line">
            <a:avLst/>
          </a:prstGeom>
          <a:ln w="19050">
            <a:solidFill>
              <a:srgbClr val="7062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895344" y="3703320"/>
            <a:ext cx="594360" cy="502920"/>
          </a:xfrm>
          <a:prstGeom prst="roundRect">
            <a:avLst/>
          </a:prstGeom>
          <a:solidFill>
            <a:srgbClr val="B85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95344" y="3749039"/>
            <a:ext cx="5943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2463" y="4370832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52D26"/>
                </a:solidFill>
                <a:latin typeface="Microsoft JhengHei"/>
              </a:rPr>
              <a:t>整理 CFM56-7B 來源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53712" y="3950208"/>
            <a:ext cx="667512" cy="0"/>
          </a:xfrm>
          <a:prstGeom prst="line">
            <a:avLst/>
          </a:prstGeom>
          <a:ln w="19050">
            <a:solidFill>
              <a:srgbClr val="7062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522976" y="3703320"/>
            <a:ext cx="594360" cy="502920"/>
          </a:xfrm>
          <a:prstGeom prst="roundRect">
            <a:avLst/>
          </a:prstGeom>
          <a:solidFill>
            <a:srgbClr val="79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22976" y="3749039"/>
            <a:ext cx="5943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0096" y="4370832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52D26"/>
                </a:solidFill>
                <a:latin typeface="Microsoft JhengHei"/>
              </a:rPr>
              <a:t>跑 pyCycle 範例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81344" y="3950208"/>
            <a:ext cx="667512" cy="0"/>
          </a:xfrm>
          <a:prstGeom prst="line">
            <a:avLst/>
          </a:prstGeom>
          <a:ln w="19050">
            <a:solidFill>
              <a:srgbClr val="7062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150608" y="3703320"/>
            <a:ext cx="594360" cy="502920"/>
          </a:xfrm>
          <a:prstGeom prst="roundRect">
            <a:avLst/>
          </a:prstGeom>
          <a:solidFill>
            <a:srgbClr val="5B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50608" y="3749039"/>
            <a:ext cx="5943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4370832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52D26"/>
                </a:solidFill>
                <a:latin typeface="Microsoft JhengHei"/>
              </a:rPr>
              <a:t>解讀 Fn / TSFC / OPR / BPR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808976" y="3950208"/>
            <a:ext cx="667512" cy="0"/>
          </a:xfrm>
          <a:prstGeom prst="line">
            <a:avLst/>
          </a:prstGeom>
          <a:ln w="19050">
            <a:solidFill>
              <a:srgbClr val="7062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778240" y="3703320"/>
            <a:ext cx="594360" cy="502920"/>
          </a:xfrm>
          <a:prstGeom prst="roundRect">
            <a:avLst/>
          </a:prstGeom>
          <a:solidFill>
            <a:srgbClr val="A65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3749039"/>
            <a:ext cx="5943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4370832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52D26"/>
                </a:solidFill>
                <a:latin typeface="Microsoft JhengHei"/>
              </a:rPr>
              <a:t>開 PySide6 UI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36608" y="3950208"/>
            <a:ext cx="667511" cy="0"/>
          </a:xfrm>
          <a:prstGeom prst="line">
            <a:avLst/>
          </a:prstGeom>
          <a:ln w="19050">
            <a:solidFill>
              <a:srgbClr val="7062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405872" y="3703320"/>
            <a:ext cx="594360" cy="502920"/>
          </a:xfrm>
          <a:prstGeom prst="roundRect">
            <a:avLst/>
          </a:prstGeom>
          <a:solidFill>
            <a:srgbClr val="C28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05872" y="3749039"/>
            <a:ext cx="5943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22992" y="4370832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52D26"/>
                </a:solidFill>
                <a:latin typeface="Microsoft JhengHei"/>
              </a:rPr>
              <a:t>輸出中英文報告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120" y="5532120"/>
            <a:ext cx="10058400" cy="685800"/>
          </a:xfrm>
          <a:prstGeom prst="roundRect">
            <a:avLst/>
          </a:prstGeom>
          <a:solidFill>
            <a:srgbClr val="FFF9EF"/>
          </a:solidFill>
          <a:ln>
            <a:solidFill>
              <a:srgbClr val="79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24712" y="5641848"/>
            <a:ext cx="97292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95C91"/>
                </a:solidFill>
                <a:latin typeface="Microsoft JhengHei"/>
              </a:rPr>
              <a:t>總結提示詞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" y="6035040"/>
            <a:ext cx="9729216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02720"/>
                </a:solidFill>
                <a:latin typeface="Microsoft JhengHei"/>
              </a:rPr>
              <a:t>請回顧今天所有步驟，產生一份學習紀錄：包含使用過的提示詞、成功命令、失敗與修正、目前模型能輸出的 pyCycle 資訊、下一週要做的 UI 功能。</a:t>
            </a:r>
          </a:p>
        </p:txBody>
      </p:sp>
      <p:sp>
        <p:nvSpPr>
          <p:cNvPr id="36" name="Oval 35"/>
          <p:cNvSpPr/>
          <p:nvPr/>
        </p:nvSpPr>
        <p:spPr>
          <a:xfrm>
            <a:off x="10058400" y="10972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59568" y="210311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460736" y="310896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661904" y="411480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863072" y="512064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064240" y="61264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265408" y="713232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649224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254"/>
                </a:solidFill>
                <a:latin typeface="Microsoft JhengHei"/>
              </a:rPr>
              <a:t>pyCycle + AI Prompting + uv + PySide6 教學規劃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28832" y="64922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254"/>
                </a:solidFill>
                <a:latin typeface="Microsoft Jheng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4A3026"/>
                </a:solidFill>
                <a:latin typeface="Microsoft JhengHei"/>
              </a:rPr>
              <a:t>檔案結構建議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88720" cy="45720"/>
          </a:xfrm>
          <a:prstGeom prst="rect">
            <a:avLst/>
          </a:prstGeom>
          <a:solidFill>
            <a:srgbClr val="B85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0525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06254"/>
                </a:solidFill>
                <a:latin typeface="Microsoft JhengHei"/>
              </a:rPr>
              <a:t>後續實作時維持 wrapper / upstream 分離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234440"/>
          <a:ext cx="10469879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726679"/>
              </a:tblGrid>
              <a:tr h="548640">
                <a:tc>
                  <a:txBody>
                    <a:bodyPr/>
                    <a:lstStyle/>
                    <a:p>
                      <a:r>
                        <a:rPr sz="1220" b="1">
                          <a:solidFill>
                            <a:srgbClr val="FFFFFF"/>
                          </a:solidFill>
                          <a:latin typeface="Microsoft JhengHei"/>
                        </a:rPr>
                        <a:t>路徑</a:t>
                      </a:r>
                    </a:p>
                  </a:txBody>
                  <a:tcPr>
                    <a:solidFill>
                      <a:srgbClr val="4A3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 b="1">
                          <a:solidFill>
                            <a:srgbClr val="FFFFFF"/>
                          </a:solidFill>
                          <a:latin typeface="Microsoft JhengHei"/>
                        </a:rPr>
                        <a:t>用途</a:t>
                      </a:r>
                    </a:p>
                  </a:txBody>
                  <a:tcPr>
                    <a:solidFill>
                      <a:srgbClr val="4A302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352D26"/>
                          </a:solidFill>
                          <a:latin typeface="Microsoft JhengHei"/>
                        </a:rPr>
                        <a:t>Reference_sources/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352D26"/>
                          </a:solidFill>
                          <a:latin typeface="Microsoft JhengHei"/>
                        </a:rPr>
                        <a:t>來源、URL、PDF、擷取欄位、下載狀態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352D26"/>
                          </a:solidFill>
                          <a:latin typeface="Microsoft JhengHei"/>
                        </a:rPr>
                        <a:t>src/pycycle_edu/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352D26"/>
                          </a:solidFill>
                          <a:latin typeface="Microsoft JhengHei"/>
                        </a:rPr>
                        <a:t>wrapper 模型、資料轉換、報告產生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352D26"/>
                          </a:solidFill>
                          <a:latin typeface="Microsoft JhengHei"/>
                        </a:rPr>
                        <a:t>src/pycycle_edu_ui/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352D26"/>
                          </a:solidFill>
                          <a:latin typeface="Microsoft JhengHei"/>
                        </a:rPr>
                        <a:t>PySide6 視窗、worker、結果表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352D26"/>
                          </a:solidFill>
                          <a:latin typeface="Microsoft JhengHei"/>
                        </a:rPr>
                        <a:t>results/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352D26"/>
                          </a:solidFill>
                          <a:latin typeface="Microsoft JhengHei"/>
                        </a:rPr>
                        <a:t>pyCycle 執行輸出、CSV、圖表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352D26"/>
                          </a:solidFill>
                          <a:latin typeface="Microsoft JhengHei"/>
                        </a:rPr>
                        <a:t>reports/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352D26"/>
                          </a:solidFill>
                          <a:latin typeface="Microsoft JhengHei"/>
                        </a:rPr>
                        <a:t>正體中文與英文報告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352D26"/>
                          </a:solidFill>
                          <a:latin typeface="Microsoft JhengHei"/>
                        </a:rPr>
                        <a:t>upstream/pyCycle/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352D26"/>
                          </a:solidFill>
                          <a:latin typeface="Microsoft JhengHei"/>
                        </a:rPr>
                        <a:t>唯讀參考，不修改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352D26"/>
                          </a:solidFill>
                          <a:latin typeface="Microsoft JhengHei"/>
                        </a:rPr>
                        <a:t>docs/dev-log/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352D26"/>
                          </a:solidFill>
                          <a:latin typeface="Microsoft JhengHei"/>
                        </a:rPr>
                        <a:t>每次 meaningful task 的紀錄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10058400" y="10972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59568" y="210311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60736" y="310896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61904" y="411480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63072" y="512064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064240" y="61264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65408" y="713232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254"/>
                </a:solidFill>
                <a:latin typeface="Microsoft JhengHei"/>
              </a:rPr>
              <a:t>pyCycle + AI Prompting + uv + PySide6 教學規劃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28832" y="64922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254"/>
                </a:solidFill>
                <a:latin typeface="Microsoft Jheng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4A3026"/>
                </a:solidFill>
                <a:latin typeface="Microsoft JhengHei"/>
              </a:rPr>
              <a:t>教師提醒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88720" cy="45720"/>
          </a:xfrm>
          <a:prstGeom prst="rect">
            <a:avLst/>
          </a:prstGeom>
          <a:solidFill>
            <a:srgbClr val="B85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0525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06254"/>
                </a:solidFill>
                <a:latin typeface="Microsoft JhengHei"/>
              </a:rPr>
              <a:t>讓學生知道 AI 很會做事，但要被清楚管理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3291840" cy="4206240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63039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7E74"/>
                </a:solidFill>
                <a:latin typeface="Microsoft JhengHei"/>
              </a:rPr>
              <a:t>工程倫理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47672"/>
            <a:ext cx="288036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>
                <a:solidFill>
                  <a:srgbClr val="352D26"/>
                </a:solidFill>
                <a:latin typeface="Microsoft JhengHei"/>
              </a:rPr>
              <a:t>• 公開資料不等於可隨意宣稱精準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模型假設要寫清楚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報告需要引用來源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25880"/>
            <a:ext cx="3291840" cy="4206240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463039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36697"/>
                </a:solidFill>
                <a:latin typeface="Microsoft JhengHei"/>
              </a:rPr>
              <a:t>軟體習慣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947672"/>
            <a:ext cx="288036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>
                <a:solidFill>
                  <a:srgbClr val="352D26"/>
                </a:solidFill>
                <a:latin typeface="Microsoft JhengHei"/>
              </a:rPr>
              <a:t>• 每次先讀規則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用 uv 重現環境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錯誤要有紀錄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不要改 upstream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325880"/>
            <a:ext cx="3291840" cy="4206240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9" y="1463039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5D36"/>
                </a:solidFill>
                <a:latin typeface="Microsoft JhengHei"/>
              </a:rPr>
              <a:t>AI 使用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947672"/>
            <a:ext cx="288036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>
                <a:solidFill>
                  <a:srgbClr val="352D26"/>
                </a:solidFill>
                <a:latin typeface="Microsoft JhengHei"/>
              </a:rPr>
              <a:t>• 提示詞要具體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要求 AI 給驗證證據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把大型任務拆階段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保留失敗案例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0" y="10972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259568" y="210311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60736" y="310896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61904" y="411480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63072" y="512064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064240" y="61264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265408" y="713232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49224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254"/>
                </a:solidFill>
                <a:latin typeface="Microsoft JhengHei"/>
              </a:rPr>
              <a:t>pyCycle + AI Prompting + uv + PySide6 教學規劃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28832" y="64922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254"/>
                </a:solidFill>
                <a:latin typeface="Microsoft Jheng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4A3026"/>
                </a:solidFill>
                <a:latin typeface="Microsoft JhengHei"/>
              </a:rPr>
              <a:t>下一步：從 PPT 到可執行教材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88720" cy="45720"/>
          </a:xfrm>
          <a:prstGeom prst="rect">
            <a:avLst/>
          </a:prstGeom>
          <a:solidFill>
            <a:srgbClr val="B85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0525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06254"/>
                </a:solidFill>
                <a:latin typeface="Microsoft JhengHei"/>
              </a:rPr>
              <a:t>本投影片是規劃與教學腳本，下一階段才進入程式實作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80160"/>
            <a:ext cx="10652760" cy="1828800"/>
          </a:xfrm>
          <a:prstGeom prst="roundRect">
            <a:avLst/>
          </a:prstGeom>
          <a:solidFill>
            <a:srgbClr val="FFF9EF"/>
          </a:solidFill>
          <a:ln>
            <a:solidFill>
              <a:srgbClr val="28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389888"/>
            <a:ext cx="103235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7E74"/>
                </a:solidFill>
                <a:latin typeface="Microsoft JhengHei"/>
              </a:rPr>
              <a:t>下一階段給 AI 的提示詞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1783080"/>
            <a:ext cx="1032357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02720"/>
                </a:solidFill>
                <a:latin typeface="Microsoft JhengHei"/>
              </a:rPr>
              <a:t>請根據 docs/slides/pycycle_ai_prompting_course.pptx，建立第一版可執行教材。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範圍：uv 專案設定、pyCycle wrapper、PySide6 最小 UI、Markdown 報告輸出。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限制：不要修改 upstream/pyCycle；修改任何既有 symbol 前先做 GitNexus impact analysis；每階段更新 docs/dev-log。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703320"/>
            <a:ext cx="3246120" cy="1508760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840480"/>
            <a:ext cx="2880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36697"/>
                </a:solidFill>
                <a:latin typeface="Microsoft JhengHei"/>
              </a:rPr>
              <a:t>第一個可執行里程碑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25112"/>
            <a:ext cx="2834639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>
                <a:solidFill>
                  <a:srgbClr val="352D26"/>
                </a:solidFill>
                <a:latin typeface="Microsoft JhengHei"/>
              </a:rPr>
              <a:t>• uv sync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跑 high_bypass_turbofan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輸出 results/hbtf_summary.csv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3703320"/>
            <a:ext cx="3246120" cy="1508760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3840480"/>
            <a:ext cx="2880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5D36"/>
                </a:solidFill>
                <a:latin typeface="Microsoft JhengHei"/>
              </a:rPr>
              <a:t>第二個里程碑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325112"/>
            <a:ext cx="2834639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>
                <a:solidFill>
                  <a:srgbClr val="352D26"/>
                </a:solidFill>
                <a:latin typeface="Microsoft JhengHei"/>
              </a:rPr>
              <a:t>• PySide6 表單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Run 按鈕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結果表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3703320"/>
            <a:ext cx="3246120" cy="1508760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59" y="3840480"/>
            <a:ext cx="2880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B8A5B"/>
                </a:solidFill>
                <a:latin typeface="Microsoft JhengHei"/>
              </a:rPr>
              <a:t>第三個里程碑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325112"/>
            <a:ext cx="2834639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>
                <a:solidFill>
                  <a:srgbClr val="352D26"/>
                </a:solidFill>
                <a:latin typeface="Microsoft JhengHei"/>
              </a:rPr>
              <a:t>• 中文報告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英文報告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來源引用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0" y="10972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59568" y="210311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460736" y="310896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61904" y="411480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863072" y="512064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064240" y="61264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265408" y="713232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49224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254"/>
                </a:solidFill>
                <a:latin typeface="Microsoft JhengHei"/>
              </a:rPr>
              <a:t>pyCycle + AI Prompting + uv + PySide6 教學規劃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28832" y="64922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254"/>
                </a:solidFill>
                <a:latin typeface="Microsoft JhengHei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